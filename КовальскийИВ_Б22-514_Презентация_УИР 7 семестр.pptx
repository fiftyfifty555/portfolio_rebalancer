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1"/>
  </p:notesMasterIdLst>
  <p:sldIdLst>
    <p:sldId id="276" r:id="rId2"/>
    <p:sldId id="258" r:id="rId3"/>
    <p:sldId id="259" r:id="rId4"/>
    <p:sldId id="260" r:id="rId5"/>
    <p:sldId id="285" r:id="rId6"/>
    <p:sldId id="282" r:id="rId7"/>
    <p:sldId id="262" r:id="rId8"/>
    <p:sldId id="283" r:id="rId9"/>
    <p:sldId id="263" r:id="rId10"/>
    <p:sldId id="270" r:id="rId11"/>
    <p:sldId id="264" r:id="rId12"/>
    <p:sldId id="280" r:id="rId13"/>
    <p:sldId id="281" r:id="rId14"/>
    <p:sldId id="277" r:id="rId15"/>
    <p:sldId id="284" r:id="rId16"/>
    <p:sldId id="265" r:id="rId17"/>
    <p:sldId id="266" r:id="rId18"/>
    <p:sldId id="267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375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406" autoAdjust="0"/>
    <p:restoredTop sz="94660" autoAdjust="0"/>
  </p:normalViewPr>
  <p:slideViewPr>
    <p:cSldViewPr snapToGrid="0">
      <p:cViewPr>
        <p:scale>
          <a:sx n="150" d="100"/>
          <a:sy n="150" d="100"/>
        </p:scale>
        <p:origin x="2034" y="4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. R." userId="187ccf51bb4995ec" providerId="LiveId" clId="{2E3D1E48-EBD6-47A1-9E48-1CBDB48548E7}"/>
    <pc:docChg chg="modMainMaster">
      <pc:chgData name="V. R." userId="187ccf51bb4995ec" providerId="LiveId" clId="{2E3D1E48-EBD6-47A1-9E48-1CBDB48548E7}" dt="2018-02-16T08:17:33.822" v="82" actId="1037"/>
      <pc:docMkLst>
        <pc:docMk/>
      </pc:docMkLst>
      <pc:sldMasterChg chg="addSp modSp">
        <pc:chgData name="V. R." userId="187ccf51bb4995ec" providerId="LiveId" clId="{2E3D1E48-EBD6-47A1-9E48-1CBDB48548E7}" dt="2018-02-16T08:17:33.822" v="82" actId="1037"/>
        <pc:sldMasterMkLst>
          <pc:docMk/>
          <pc:sldMasterMk cId="4085248614" sldId="2147483660"/>
        </pc:sldMasterMkLst>
        <pc:spChg chg="ord">
          <ac:chgData name="V. R." userId="187ccf51bb4995ec" providerId="LiveId" clId="{2E3D1E48-EBD6-47A1-9E48-1CBDB48548E7}" dt="2018-02-16T08:17:22.782" v="34" actId="167"/>
          <ac:spMkLst>
            <pc:docMk/>
            <pc:sldMasterMk cId="4085248614" sldId="2147483660"/>
            <ac:spMk id="18" creationId="{815AD966-4302-48E2-9828-B1F03FA0B06C}"/>
          </ac:spMkLst>
        </pc:spChg>
        <pc:spChg chg="add mod ord">
          <ac:chgData name="V. R." userId="187ccf51bb4995ec" providerId="LiveId" clId="{2E3D1E48-EBD6-47A1-9E48-1CBDB48548E7}" dt="2018-02-16T08:17:33.822" v="82" actId="1037"/>
          <ac:spMkLst>
            <pc:docMk/>
            <pc:sldMasterMk cId="4085248614" sldId="2147483660"/>
            <ac:spMk id="20" creationId="{C2043553-3B14-472E-B596-C069E0028D39}"/>
          </ac:spMkLst>
        </pc:spChg>
      </pc:sldMasterChg>
    </pc:docChg>
  </pc:docChgLst>
  <pc:docChgLst>
    <pc:chgData name="V. R." userId="187ccf51bb4995ec" providerId="LiveId" clId="{E123EF9A-9C64-41D8-AAD8-DF4E57A6BD41}"/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6452A2-87B4-47F0-AC37-ED6F4B94E49A}" type="datetimeFigureOut">
              <a:rPr lang="ru-RU" smtClean="0"/>
              <a:t>06.02.2026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EB4E77-8490-42F6-B735-9997140001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424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3d26c52629_0_2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g33d26c52629_0_2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865996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3d26c52629_0_2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g33d26c52629_0_2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41129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D94F79F4-8908-47C1-815C-4C7976F112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24469" y="3435698"/>
            <a:ext cx="6858001" cy="1055959"/>
          </a:xfrm>
        </p:spPr>
        <p:txBody>
          <a:bodyPr>
            <a:normAutofit/>
          </a:bodyPr>
          <a:lstStyle>
            <a:lvl1pPr algn="ctr">
              <a:defRPr sz="2400" b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Название </a:t>
            </a:r>
            <a:br>
              <a:rPr lang="ru-RU" dirty="0"/>
            </a:br>
            <a:r>
              <a:rPr lang="ru-RU" dirty="0"/>
              <a:t>выпускной квалификационной работы</a:t>
            </a:r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3A64646A-7249-4656-9C89-4A3F1BC4923E}"/>
              </a:ext>
            </a:extLst>
          </p:cNvPr>
          <p:cNvCxnSpPr>
            <a:cxnSpLocks/>
          </p:cNvCxnSpPr>
          <p:nvPr userDrawn="1"/>
        </p:nvCxnSpPr>
        <p:spPr>
          <a:xfrm>
            <a:off x="628650" y="761362"/>
            <a:ext cx="7849636" cy="0"/>
          </a:xfrm>
          <a:prstGeom prst="line">
            <a:avLst/>
          </a:prstGeom>
          <a:ln w="22225">
            <a:solidFill>
              <a:srgbClr val="5375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E8BA294C-FA03-47C5-8935-22C7E2097678}"/>
              </a:ext>
            </a:extLst>
          </p:cNvPr>
          <p:cNvSpPr txBox="1">
            <a:spLocks/>
          </p:cNvSpPr>
          <p:nvPr userDrawn="1"/>
        </p:nvSpPr>
        <p:spPr>
          <a:xfrm>
            <a:off x="179512" y="1048624"/>
            <a:ext cx="8964488" cy="13169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1400" cap="al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1400" cap="al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1400" b="1" cap="all" dirty="0">
                <a:latin typeface="Arial" panose="020B0604020202020204" pitchFamily="34" charset="0"/>
                <a:cs typeface="Arial" panose="020B0604020202020204" pitchFamily="34" charset="0"/>
              </a:rPr>
              <a:t>Институт интеллектуальных кибернетических систем</a:t>
            </a:r>
          </a:p>
          <a:p>
            <a:endParaRPr lang="ru-RU" sz="1400" b="1" cap="al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1300" b="1" cap="all" dirty="0">
                <a:latin typeface="Arial" panose="020B0604020202020204" pitchFamily="34" charset="0"/>
                <a:cs typeface="Arial" panose="020B0604020202020204" pitchFamily="34" charset="0"/>
              </a:rPr>
              <a:t>Кафедра кибернетики (№ 22)</a:t>
            </a:r>
          </a:p>
          <a:p>
            <a:endParaRPr lang="ru-RU" sz="1400" cap="al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ru-RU" sz="1400" b="1" cap="all" dirty="0">
                <a:latin typeface="Arial" panose="020B0604020202020204" pitchFamily="34" charset="0"/>
                <a:cs typeface="Arial" panose="020B0604020202020204" pitchFamily="34" charset="0"/>
              </a:rPr>
              <a:t>		</a:t>
            </a:r>
            <a:r>
              <a:rPr lang="ru-RU" sz="1200" b="1" cap="all" dirty="0">
                <a:latin typeface="Arial" panose="020B0604020202020204" pitchFamily="34" charset="0"/>
                <a:cs typeface="Arial" panose="020B0604020202020204" pitchFamily="34" charset="0"/>
              </a:rPr>
              <a:t>Направление подготовки</a:t>
            </a:r>
          </a:p>
        </p:txBody>
      </p:sp>
      <p:graphicFrame>
        <p:nvGraphicFramePr>
          <p:cNvPr id="13" name="Таблица 12">
            <a:extLst>
              <a:ext uri="{FF2B5EF4-FFF2-40B4-BE49-F238E27FC236}">
                <a16:creationId xmlns:a16="http://schemas.microsoft.com/office/drawing/2014/main" id="{ADF539C3-71FD-4AD6-B047-7E76B69B7F5B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943363492"/>
              </p:ext>
            </p:extLst>
          </p:nvPr>
        </p:nvGraphicFramePr>
        <p:xfrm>
          <a:off x="4034606" y="4565212"/>
          <a:ext cx="5040560" cy="116419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64296">
                  <a:extLst>
                    <a:ext uri="{9D8B030D-6E8A-4147-A177-3AD203B41FA5}">
                      <a16:colId xmlns:a16="http://schemas.microsoft.com/office/drawing/2014/main" val="2990008635"/>
                    </a:ext>
                  </a:extLst>
                </a:gridCol>
                <a:gridCol w="2376264">
                  <a:extLst>
                    <a:ext uri="{9D8B030D-6E8A-4147-A177-3AD203B41FA5}">
                      <a16:colId xmlns:a16="http://schemas.microsoft.com/office/drawing/2014/main" val="27949995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ru-RU" sz="16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Студент:</a:t>
                      </a:r>
                      <a:endParaRPr lang="ru-RU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3401391"/>
                  </a:ext>
                </a:extLst>
              </a:tr>
              <a:tr h="422516">
                <a:tc>
                  <a:txBody>
                    <a:bodyPr/>
                    <a:lstStyle/>
                    <a:p>
                      <a:pPr algn="r"/>
                      <a:r>
                        <a:rPr lang="ru-RU" sz="16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Группа:</a:t>
                      </a:r>
                      <a:endParaRPr lang="ru-RU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09980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ru-RU" sz="16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Научный руководитель:</a:t>
                      </a:r>
                      <a:endParaRPr lang="ru-RU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600" dirty="0">
                        <a:solidFill>
                          <a:srgbClr val="92D05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2901047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6EDA9CA7-F8C9-483E-B140-3539B3573F9B}"/>
              </a:ext>
            </a:extLst>
          </p:cNvPr>
          <p:cNvSpPr txBox="1"/>
          <p:nvPr userDrawn="1"/>
        </p:nvSpPr>
        <p:spPr>
          <a:xfrm>
            <a:off x="1929191" y="2972575"/>
            <a:ext cx="52485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 smtClean="0">
                <a:latin typeface="Arial Black" panose="020B0A04020102020204" pitchFamily="34" charset="0"/>
              </a:rPr>
              <a:t>Учебно-исследовательская </a:t>
            </a:r>
            <a:r>
              <a:rPr lang="ru-RU" sz="1600" dirty="0">
                <a:latin typeface="Arial Black" panose="020B0A04020102020204" pitchFamily="34" charset="0"/>
              </a:rPr>
              <a:t>работа на тему: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B3A3257-1683-4003-B846-9F4AE6F29000}"/>
              </a:ext>
            </a:extLst>
          </p:cNvPr>
          <p:cNvSpPr txBox="1"/>
          <p:nvPr userDrawn="1"/>
        </p:nvSpPr>
        <p:spPr>
          <a:xfrm>
            <a:off x="3945768" y="6232783"/>
            <a:ext cx="13596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/>
              <a:t>Москва, </a:t>
            </a:r>
            <a:r>
              <a:rPr lang="ru-RU" sz="1600" dirty="0" smtClean="0"/>
              <a:t>2019</a:t>
            </a:r>
            <a:endParaRPr lang="ru-RU" sz="1600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0" hasCustomPrompt="1"/>
          </p:nvPr>
        </p:nvSpPr>
        <p:spPr>
          <a:xfrm>
            <a:off x="6667500" y="4622006"/>
            <a:ext cx="2184400" cy="285274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rgbClr val="92D050"/>
                </a:solidFill>
              </a:defRPr>
            </a:lvl1pPr>
          </a:lstStyle>
          <a:p>
            <a:pPr lvl="0"/>
            <a:r>
              <a:rPr lang="ru-RU" dirty="0"/>
              <a:t>Иванов И.И.</a:t>
            </a:r>
          </a:p>
        </p:txBody>
      </p:sp>
      <p:sp>
        <p:nvSpPr>
          <p:cNvPr id="16" name="Текст 4"/>
          <p:cNvSpPr>
            <a:spLocks noGrp="1"/>
          </p:cNvSpPr>
          <p:nvPr>
            <p:ph type="body" sz="quarter" idx="11" hasCustomPrompt="1"/>
          </p:nvPr>
        </p:nvSpPr>
        <p:spPr>
          <a:xfrm>
            <a:off x="6667500" y="4976812"/>
            <a:ext cx="2184400" cy="299561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rgbClr val="92D050"/>
                </a:solidFill>
              </a:defRPr>
            </a:lvl1pPr>
          </a:lstStyle>
          <a:p>
            <a:pPr lvl="0"/>
            <a:r>
              <a:rPr lang="ru-RU" dirty="0"/>
              <a:t>Б17-594</a:t>
            </a:r>
          </a:p>
        </p:txBody>
      </p:sp>
      <p:sp>
        <p:nvSpPr>
          <p:cNvPr id="17" name="Текст 4"/>
          <p:cNvSpPr>
            <a:spLocks noGrp="1"/>
          </p:cNvSpPr>
          <p:nvPr>
            <p:ph type="body" sz="quarter" idx="12" hasCustomPrompt="1"/>
          </p:nvPr>
        </p:nvSpPr>
        <p:spPr>
          <a:xfrm>
            <a:off x="6662737" y="5442771"/>
            <a:ext cx="2184400" cy="589728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60000"/>
              </a:lnSpc>
              <a:buNone/>
              <a:defRPr sz="1600">
                <a:solidFill>
                  <a:srgbClr val="92D050"/>
                </a:solidFill>
              </a:defRPr>
            </a:lvl1pPr>
          </a:lstStyle>
          <a:p>
            <a:pPr lvl="0"/>
            <a:r>
              <a:rPr lang="ru-RU" dirty="0"/>
              <a:t>к.т.н., доцент </a:t>
            </a:r>
          </a:p>
          <a:p>
            <a:pPr lvl="0"/>
            <a:r>
              <a:rPr lang="ru-RU" dirty="0"/>
              <a:t>Петров П.П.</a:t>
            </a:r>
          </a:p>
        </p:txBody>
      </p:sp>
      <p:sp>
        <p:nvSpPr>
          <p:cNvPr id="21" name="Текст 4"/>
          <p:cNvSpPr>
            <a:spLocks noGrp="1"/>
          </p:cNvSpPr>
          <p:nvPr>
            <p:ph type="body" sz="quarter" idx="14" hasCustomPrompt="1"/>
          </p:nvPr>
        </p:nvSpPr>
        <p:spPr>
          <a:xfrm>
            <a:off x="4270385" y="2023563"/>
            <a:ext cx="3835389" cy="285274"/>
          </a:xfrm>
        </p:spPr>
        <p:txBody>
          <a:bodyPr anchor="b">
            <a:normAutofit/>
          </a:bodyPr>
          <a:lstStyle>
            <a:lvl1pPr marL="0" indent="0">
              <a:buNone/>
              <a:defRPr sz="1100" b="1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09.03.04 ПРОГРАММНАЯ ИНЖЕНЕРИЯ</a:t>
            </a:r>
          </a:p>
        </p:txBody>
      </p:sp>
      <p:sp>
        <p:nvSpPr>
          <p:cNvPr id="2" name="Прямоугольник 1"/>
          <p:cNvSpPr/>
          <p:nvPr userDrawn="1"/>
        </p:nvSpPr>
        <p:spPr>
          <a:xfrm>
            <a:off x="369115" y="66517"/>
            <a:ext cx="8598716" cy="6924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300" b="1" dirty="0" smtClean="0">
                <a:latin typeface="Arial" panose="020B0604020202020204" pitchFamily="34" charset="0"/>
                <a:cs typeface="Arial" panose="020B0604020202020204" pitchFamily="34" charset="0"/>
              </a:rPr>
              <a:t>МИНИСТЕРСТВО НАУКИ И ВЫСШЕГО ОБРАЗОВАНИЯ  РОССИЙСКОЙ  ФЕДЕРАЦИИ</a:t>
            </a:r>
          </a:p>
          <a:p>
            <a:pPr algn="ctr"/>
            <a:r>
              <a:rPr lang="ru-RU" sz="1300" b="1" dirty="0" smtClean="0">
                <a:latin typeface="Arial" panose="020B0604020202020204" pitchFamily="34" charset="0"/>
                <a:cs typeface="Arial" panose="020B0604020202020204" pitchFamily="34" charset="0"/>
              </a:rPr>
              <a:t>Федеральное государственное автономное образовательное учреждение высшего образования</a:t>
            </a:r>
            <a:endParaRPr lang="ru-RU" sz="13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ru-RU" sz="13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«Национальный исследовательский ядерный университет «МИФИ»</a:t>
            </a:r>
            <a:endParaRPr lang="ru-RU" sz="13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1776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D94F79F4-8908-47C1-815C-4C7976F112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24469" y="3435698"/>
            <a:ext cx="6858001" cy="1055959"/>
          </a:xfrm>
        </p:spPr>
        <p:txBody>
          <a:bodyPr>
            <a:normAutofit/>
          </a:bodyPr>
          <a:lstStyle>
            <a:lvl1pPr algn="ctr">
              <a:defRPr sz="2400" b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Название </a:t>
            </a:r>
            <a:br>
              <a:rPr lang="ru-RU" dirty="0"/>
            </a:br>
            <a:r>
              <a:rPr lang="ru-RU" dirty="0"/>
              <a:t>выпускной квалификационной работы</a:t>
            </a:r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3A64646A-7249-4656-9C89-4A3F1BC4923E}"/>
              </a:ext>
            </a:extLst>
          </p:cNvPr>
          <p:cNvCxnSpPr>
            <a:cxnSpLocks/>
          </p:cNvCxnSpPr>
          <p:nvPr userDrawn="1"/>
        </p:nvCxnSpPr>
        <p:spPr>
          <a:xfrm>
            <a:off x="628650" y="761362"/>
            <a:ext cx="7849636" cy="0"/>
          </a:xfrm>
          <a:prstGeom prst="line">
            <a:avLst/>
          </a:prstGeom>
          <a:ln w="22225">
            <a:solidFill>
              <a:srgbClr val="5375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E8BA294C-FA03-47C5-8935-22C7E2097678}"/>
              </a:ext>
            </a:extLst>
          </p:cNvPr>
          <p:cNvSpPr txBox="1">
            <a:spLocks/>
          </p:cNvSpPr>
          <p:nvPr userDrawn="1"/>
        </p:nvSpPr>
        <p:spPr>
          <a:xfrm>
            <a:off x="179512" y="1048624"/>
            <a:ext cx="8964488" cy="13169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1400" cap="al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1400" cap="al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1400" b="1" cap="all" dirty="0">
                <a:latin typeface="Arial" panose="020B0604020202020204" pitchFamily="34" charset="0"/>
                <a:cs typeface="Arial" panose="020B0604020202020204" pitchFamily="34" charset="0"/>
              </a:rPr>
              <a:t>Институт интеллектуальных кибернетических систем</a:t>
            </a:r>
          </a:p>
          <a:p>
            <a:endParaRPr lang="ru-RU" sz="1400" b="1" cap="al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1300" b="1" cap="all" dirty="0">
                <a:latin typeface="Arial" panose="020B0604020202020204" pitchFamily="34" charset="0"/>
                <a:cs typeface="Arial" panose="020B0604020202020204" pitchFamily="34" charset="0"/>
              </a:rPr>
              <a:t>Кафедра кибернетики (№ 22)</a:t>
            </a:r>
          </a:p>
          <a:p>
            <a:endParaRPr lang="ru-RU" sz="1400" cap="al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ru-RU" sz="1400" b="1" cap="all" dirty="0">
                <a:latin typeface="Arial" panose="020B0604020202020204" pitchFamily="34" charset="0"/>
                <a:cs typeface="Arial" panose="020B0604020202020204" pitchFamily="34" charset="0"/>
              </a:rPr>
              <a:t>		</a:t>
            </a:r>
            <a:r>
              <a:rPr lang="ru-RU" sz="1200" b="1" cap="all" dirty="0">
                <a:latin typeface="Arial" panose="020B0604020202020204" pitchFamily="34" charset="0"/>
                <a:cs typeface="Arial" panose="020B0604020202020204" pitchFamily="34" charset="0"/>
              </a:rPr>
              <a:t>Направление подготовки</a:t>
            </a:r>
          </a:p>
        </p:txBody>
      </p:sp>
      <p:graphicFrame>
        <p:nvGraphicFramePr>
          <p:cNvPr id="13" name="Таблица 12">
            <a:extLst>
              <a:ext uri="{FF2B5EF4-FFF2-40B4-BE49-F238E27FC236}">
                <a16:creationId xmlns:a16="http://schemas.microsoft.com/office/drawing/2014/main" id="{ADF539C3-71FD-4AD6-B047-7E76B69B7F5B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019484018"/>
              </p:ext>
            </p:extLst>
          </p:nvPr>
        </p:nvGraphicFramePr>
        <p:xfrm>
          <a:off x="4034606" y="4565212"/>
          <a:ext cx="5040560" cy="116419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64296">
                  <a:extLst>
                    <a:ext uri="{9D8B030D-6E8A-4147-A177-3AD203B41FA5}">
                      <a16:colId xmlns:a16="http://schemas.microsoft.com/office/drawing/2014/main" val="2990008635"/>
                    </a:ext>
                  </a:extLst>
                </a:gridCol>
                <a:gridCol w="2376264">
                  <a:extLst>
                    <a:ext uri="{9D8B030D-6E8A-4147-A177-3AD203B41FA5}">
                      <a16:colId xmlns:a16="http://schemas.microsoft.com/office/drawing/2014/main" val="27949995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ru-RU" sz="16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Студент:</a:t>
                      </a:r>
                      <a:endParaRPr lang="ru-RU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3401391"/>
                  </a:ext>
                </a:extLst>
              </a:tr>
              <a:tr h="422516">
                <a:tc>
                  <a:txBody>
                    <a:bodyPr/>
                    <a:lstStyle/>
                    <a:p>
                      <a:pPr algn="r"/>
                      <a:r>
                        <a:rPr lang="ru-RU" sz="16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Группа:</a:t>
                      </a:r>
                      <a:endParaRPr lang="ru-RU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09980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ru-RU" sz="16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Научный руководитель:</a:t>
                      </a:r>
                      <a:endParaRPr lang="ru-RU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600" dirty="0">
                        <a:solidFill>
                          <a:srgbClr val="92D05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2901047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6EDA9CA7-F8C9-483E-B140-3539B3573F9B}"/>
              </a:ext>
            </a:extLst>
          </p:cNvPr>
          <p:cNvSpPr txBox="1"/>
          <p:nvPr userDrawn="1"/>
        </p:nvSpPr>
        <p:spPr>
          <a:xfrm>
            <a:off x="2026258" y="2972575"/>
            <a:ext cx="52709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 smtClean="0">
                <a:latin typeface="Arial Black" panose="020B0A04020102020204" pitchFamily="34" charset="0"/>
              </a:rPr>
              <a:t>Научно-исследовательская </a:t>
            </a:r>
            <a:r>
              <a:rPr lang="ru-RU" sz="1600" dirty="0">
                <a:latin typeface="Arial Black" panose="020B0A04020102020204" pitchFamily="34" charset="0"/>
              </a:rPr>
              <a:t>работа на тему: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B3A3257-1683-4003-B846-9F4AE6F29000}"/>
              </a:ext>
            </a:extLst>
          </p:cNvPr>
          <p:cNvSpPr txBox="1"/>
          <p:nvPr userDrawn="1"/>
        </p:nvSpPr>
        <p:spPr>
          <a:xfrm>
            <a:off x="3945768" y="6232783"/>
            <a:ext cx="13596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/>
              <a:t>Москва, </a:t>
            </a:r>
            <a:r>
              <a:rPr lang="ru-RU" sz="1600" dirty="0" smtClean="0"/>
              <a:t>2019</a:t>
            </a:r>
            <a:endParaRPr lang="ru-RU" sz="1600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0" hasCustomPrompt="1"/>
          </p:nvPr>
        </p:nvSpPr>
        <p:spPr>
          <a:xfrm>
            <a:off x="6667500" y="4622006"/>
            <a:ext cx="2184400" cy="285274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rgbClr val="92D050"/>
                </a:solidFill>
              </a:defRPr>
            </a:lvl1pPr>
          </a:lstStyle>
          <a:p>
            <a:pPr lvl="0"/>
            <a:r>
              <a:rPr lang="ru-RU" dirty="0"/>
              <a:t>Иванов И.И.</a:t>
            </a:r>
          </a:p>
        </p:txBody>
      </p:sp>
      <p:sp>
        <p:nvSpPr>
          <p:cNvPr id="16" name="Текст 4"/>
          <p:cNvSpPr>
            <a:spLocks noGrp="1"/>
          </p:cNvSpPr>
          <p:nvPr>
            <p:ph type="body" sz="quarter" idx="11" hasCustomPrompt="1"/>
          </p:nvPr>
        </p:nvSpPr>
        <p:spPr>
          <a:xfrm>
            <a:off x="6667500" y="4976812"/>
            <a:ext cx="2184400" cy="299561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rgbClr val="92D050"/>
                </a:solidFill>
              </a:defRPr>
            </a:lvl1pPr>
          </a:lstStyle>
          <a:p>
            <a:pPr lvl="0"/>
            <a:r>
              <a:rPr lang="ru-RU" dirty="0"/>
              <a:t>Б17-594</a:t>
            </a:r>
          </a:p>
        </p:txBody>
      </p:sp>
      <p:sp>
        <p:nvSpPr>
          <p:cNvPr id="17" name="Текст 4"/>
          <p:cNvSpPr>
            <a:spLocks noGrp="1"/>
          </p:cNvSpPr>
          <p:nvPr>
            <p:ph type="body" sz="quarter" idx="12" hasCustomPrompt="1"/>
          </p:nvPr>
        </p:nvSpPr>
        <p:spPr>
          <a:xfrm>
            <a:off x="6662737" y="5442771"/>
            <a:ext cx="2184400" cy="589728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60000"/>
              </a:lnSpc>
              <a:buNone/>
              <a:defRPr sz="1600">
                <a:solidFill>
                  <a:srgbClr val="92D050"/>
                </a:solidFill>
              </a:defRPr>
            </a:lvl1pPr>
          </a:lstStyle>
          <a:p>
            <a:pPr lvl="0"/>
            <a:r>
              <a:rPr lang="ru-RU" dirty="0"/>
              <a:t>к.т.н., доцент </a:t>
            </a:r>
          </a:p>
          <a:p>
            <a:pPr lvl="0"/>
            <a:r>
              <a:rPr lang="ru-RU" dirty="0"/>
              <a:t>Петров П.П.</a:t>
            </a:r>
          </a:p>
        </p:txBody>
      </p:sp>
      <p:sp>
        <p:nvSpPr>
          <p:cNvPr id="21" name="Текст 4"/>
          <p:cNvSpPr>
            <a:spLocks noGrp="1"/>
          </p:cNvSpPr>
          <p:nvPr>
            <p:ph type="body" sz="quarter" idx="14" hasCustomPrompt="1"/>
          </p:nvPr>
        </p:nvSpPr>
        <p:spPr>
          <a:xfrm>
            <a:off x="4270385" y="2023563"/>
            <a:ext cx="3835389" cy="285274"/>
          </a:xfrm>
        </p:spPr>
        <p:txBody>
          <a:bodyPr anchor="b">
            <a:normAutofit/>
          </a:bodyPr>
          <a:lstStyle>
            <a:lvl1pPr marL="0" indent="0">
              <a:buNone/>
              <a:defRPr sz="1100" b="1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09.03.04 ПРОГРАММНАЯ ИНЖЕНЕРИЯ</a:t>
            </a:r>
          </a:p>
        </p:txBody>
      </p:sp>
      <p:sp>
        <p:nvSpPr>
          <p:cNvPr id="2" name="Прямоугольник 1"/>
          <p:cNvSpPr/>
          <p:nvPr userDrawn="1"/>
        </p:nvSpPr>
        <p:spPr>
          <a:xfrm>
            <a:off x="369115" y="66517"/>
            <a:ext cx="8598716" cy="6924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300" b="1" dirty="0" smtClean="0">
                <a:latin typeface="Arial" panose="020B0604020202020204" pitchFamily="34" charset="0"/>
                <a:cs typeface="Arial" panose="020B0604020202020204" pitchFamily="34" charset="0"/>
              </a:rPr>
              <a:t>МИНИСТЕРСТВО НАУКИ И ВЫСШЕГО ОБРАЗОВАНИЯ  РОССИЙСКОЙ  ФЕДЕРАЦИИ</a:t>
            </a:r>
          </a:p>
          <a:p>
            <a:pPr algn="ctr"/>
            <a:r>
              <a:rPr lang="ru-RU" sz="1300" b="1" dirty="0" smtClean="0">
                <a:latin typeface="Arial" panose="020B0604020202020204" pitchFamily="34" charset="0"/>
                <a:cs typeface="Arial" panose="020B0604020202020204" pitchFamily="34" charset="0"/>
              </a:rPr>
              <a:t>Федеральное государственное автономное образовательное учреждение высшего образования</a:t>
            </a:r>
            <a:endParaRPr lang="ru-RU" sz="13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ru-RU" sz="13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«Национальный исследовательский ядерный университет «МИФИ»</a:t>
            </a:r>
            <a:endParaRPr lang="ru-RU" sz="13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6128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D94F79F4-8908-47C1-815C-4C7976F112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24469" y="3435698"/>
            <a:ext cx="6858001" cy="1055959"/>
          </a:xfrm>
        </p:spPr>
        <p:txBody>
          <a:bodyPr>
            <a:normAutofit/>
          </a:bodyPr>
          <a:lstStyle>
            <a:lvl1pPr algn="ctr">
              <a:defRPr sz="2400" b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Название </a:t>
            </a:r>
            <a:br>
              <a:rPr lang="ru-RU" dirty="0"/>
            </a:br>
            <a:r>
              <a:rPr lang="ru-RU" dirty="0"/>
              <a:t>выпускной квалификационной работы</a:t>
            </a:r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3A64646A-7249-4656-9C89-4A3F1BC4923E}"/>
              </a:ext>
            </a:extLst>
          </p:cNvPr>
          <p:cNvCxnSpPr>
            <a:cxnSpLocks/>
          </p:cNvCxnSpPr>
          <p:nvPr userDrawn="1"/>
        </p:nvCxnSpPr>
        <p:spPr>
          <a:xfrm>
            <a:off x="628650" y="761362"/>
            <a:ext cx="7849636" cy="0"/>
          </a:xfrm>
          <a:prstGeom prst="line">
            <a:avLst/>
          </a:prstGeom>
          <a:ln w="22225">
            <a:solidFill>
              <a:srgbClr val="5375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E8BA294C-FA03-47C5-8935-22C7E2097678}"/>
              </a:ext>
            </a:extLst>
          </p:cNvPr>
          <p:cNvSpPr txBox="1">
            <a:spLocks/>
          </p:cNvSpPr>
          <p:nvPr userDrawn="1"/>
        </p:nvSpPr>
        <p:spPr>
          <a:xfrm>
            <a:off x="179512" y="1048624"/>
            <a:ext cx="8964488" cy="13169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1400" cap="al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1400" cap="al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1400" b="1" cap="all" dirty="0">
                <a:latin typeface="Arial" panose="020B0604020202020204" pitchFamily="34" charset="0"/>
                <a:cs typeface="Arial" panose="020B0604020202020204" pitchFamily="34" charset="0"/>
              </a:rPr>
              <a:t>Институт интеллектуальных кибернетических систем</a:t>
            </a:r>
          </a:p>
          <a:p>
            <a:endParaRPr lang="ru-RU" sz="1400" b="1" cap="al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1300" b="1" cap="all" dirty="0">
                <a:latin typeface="Arial" panose="020B0604020202020204" pitchFamily="34" charset="0"/>
                <a:cs typeface="Arial" panose="020B0604020202020204" pitchFamily="34" charset="0"/>
              </a:rPr>
              <a:t>Кафедра кибернетики (№ 22)</a:t>
            </a:r>
          </a:p>
          <a:p>
            <a:endParaRPr lang="ru-RU" sz="1400" cap="al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ru-RU" sz="1400" b="1" cap="all" dirty="0">
                <a:latin typeface="Arial" panose="020B0604020202020204" pitchFamily="34" charset="0"/>
                <a:cs typeface="Arial" panose="020B0604020202020204" pitchFamily="34" charset="0"/>
              </a:rPr>
              <a:t>		</a:t>
            </a:r>
            <a:r>
              <a:rPr lang="ru-RU" sz="1200" b="1" cap="all" dirty="0">
                <a:latin typeface="Arial" panose="020B0604020202020204" pitchFamily="34" charset="0"/>
                <a:cs typeface="Arial" panose="020B0604020202020204" pitchFamily="34" charset="0"/>
              </a:rPr>
              <a:t>Направление подготовки</a:t>
            </a:r>
          </a:p>
        </p:txBody>
      </p:sp>
      <p:graphicFrame>
        <p:nvGraphicFramePr>
          <p:cNvPr id="13" name="Таблица 12">
            <a:extLst>
              <a:ext uri="{FF2B5EF4-FFF2-40B4-BE49-F238E27FC236}">
                <a16:creationId xmlns:a16="http://schemas.microsoft.com/office/drawing/2014/main" id="{ADF539C3-71FD-4AD6-B047-7E76B69B7F5B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721963119"/>
              </p:ext>
            </p:extLst>
          </p:nvPr>
        </p:nvGraphicFramePr>
        <p:xfrm>
          <a:off x="4034606" y="4565212"/>
          <a:ext cx="5040560" cy="116419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64296">
                  <a:extLst>
                    <a:ext uri="{9D8B030D-6E8A-4147-A177-3AD203B41FA5}">
                      <a16:colId xmlns:a16="http://schemas.microsoft.com/office/drawing/2014/main" val="2990008635"/>
                    </a:ext>
                  </a:extLst>
                </a:gridCol>
                <a:gridCol w="2376264">
                  <a:extLst>
                    <a:ext uri="{9D8B030D-6E8A-4147-A177-3AD203B41FA5}">
                      <a16:colId xmlns:a16="http://schemas.microsoft.com/office/drawing/2014/main" val="27949995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ru-RU" sz="16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Студент:</a:t>
                      </a:r>
                      <a:endParaRPr lang="ru-RU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3401391"/>
                  </a:ext>
                </a:extLst>
              </a:tr>
              <a:tr h="422516">
                <a:tc>
                  <a:txBody>
                    <a:bodyPr/>
                    <a:lstStyle/>
                    <a:p>
                      <a:pPr algn="r"/>
                      <a:r>
                        <a:rPr lang="ru-RU" sz="16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Группа:</a:t>
                      </a:r>
                      <a:endParaRPr lang="ru-RU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09980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ru-RU" sz="16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Научный руководитель:</a:t>
                      </a:r>
                      <a:endParaRPr lang="ru-RU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600" dirty="0">
                        <a:solidFill>
                          <a:srgbClr val="92D05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2901047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6EDA9CA7-F8C9-483E-B140-3539B3573F9B}"/>
              </a:ext>
            </a:extLst>
          </p:cNvPr>
          <p:cNvSpPr txBox="1"/>
          <p:nvPr userDrawn="1"/>
        </p:nvSpPr>
        <p:spPr>
          <a:xfrm>
            <a:off x="1815769" y="2972575"/>
            <a:ext cx="57054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 smtClean="0">
                <a:latin typeface="Arial Black" panose="020B0A04020102020204" pitchFamily="34" charset="0"/>
              </a:rPr>
              <a:t>Выпускная квалификационная </a:t>
            </a:r>
            <a:r>
              <a:rPr lang="ru-RU" sz="1600" dirty="0">
                <a:latin typeface="Arial Black" panose="020B0A04020102020204" pitchFamily="34" charset="0"/>
              </a:rPr>
              <a:t>работа на тему: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B3A3257-1683-4003-B846-9F4AE6F29000}"/>
              </a:ext>
            </a:extLst>
          </p:cNvPr>
          <p:cNvSpPr txBox="1"/>
          <p:nvPr userDrawn="1"/>
        </p:nvSpPr>
        <p:spPr>
          <a:xfrm>
            <a:off x="3945768" y="6232783"/>
            <a:ext cx="13596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/>
              <a:t>Москва, </a:t>
            </a:r>
            <a:r>
              <a:rPr lang="ru-RU" sz="1600" dirty="0" smtClean="0"/>
              <a:t>2019</a:t>
            </a:r>
            <a:endParaRPr lang="ru-RU" sz="1600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0" hasCustomPrompt="1"/>
          </p:nvPr>
        </p:nvSpPr>
        <p:spPr>
          <a:xfrm>
            <a:off x="6667500" y="4622006"/>
            <a:ext cx="2184400" cy="285274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rgbClr val="92D050"/>
                </a:solidFill>
              </a:defRPr>
            </a:lvl1pPr>
          </a:lstStyle>
          <a:p>
            <a:pPr lvl="0"/>
            <a:r>
              <a:rPr lang="ru-RU" dirty="0"/>
              <a:t>Иванов И.И.</a:t>
            </a:r>
          </a:p>
        </p:txBody>
      </p:sp>
      <p:sp>
        <p:nvSpPr>
          <p:cNvPr id="16" name="Текст 4"/>
          <p:cNvSpPr>
            <a:spLocks noGrp="1"/>
          </p:cNvSpPr>
          <p:nvPr>
            <p:ph type="body" sz="quarter" idx="11" hasCustomPrompt="1"/>
          </p:nvPr>
        </p:nvSpPr>
        <p:spPr>
          <a:xfrm>
            <a:off x="6667500" y="4976812"/>
            <a:ext cx="2184400" cy="299561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rgbClr val="92D050"/>
                </a:solidFill>
              </a:defRPr>
            </a:lvl1pPr>
          </a:lstStyle>
          <a:p>
            <a:pPr lvl="0"/>
            <a:r>
              <a:rPr lang="ru-RU" dirty="0"/>
              <a:t>Б17-594</a:t>
            </a:r>
          </a:p>
        </p:txBody>
      </p:sp>
      <p:sp>
        <p:nvSpPr>
          <p:cNvPr id="17" name="Текст 4"/>
          <p:cNvSpPr>
            <a:spLocks noGrp="1"/>
          </p:cNvSpPr>
          <p:nvPr>
            <p:ph type="body" sz="quarter" idx="12" hasCustomPrompt="1"/>
          </p:nvPr>
        </p:nvSpPr>
        <p:spPr>
          <a:xfrm>
            <a:off x="6662737" y="5442771"/>
            <a:ext cx="2184400" cy="589728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60000"/>
              </a:lnSpc>
              <a:buNone/>
              <a:defRPr sz="1600">
                <a:solidFill>
                  <a:srgbClr val="92D050"/>
                </a:solidFill>
              </a:defRPr>
            </a:lvl1pPr>
          </a:lstStyle>
          <a:p>
            <a:pPr lvl="0"/>
            <a:r>
              <a:rPr lang="ru-RU" dirty="0"/>
              <a:t>к.т.н., доцент </a:t>
            </a:r>
          </a:p>
          <a:p>
            <a:pPr lvl="0"/>
            <a:r>
              <a:rPr lang="ru-RU" dirty="0"/>
              <a:t>Петров П.П.</a:t>
            </a:r>
          </a:p>
        </p:txBody>
      </p:sp>
      <p:sp>
        <p:nvSpPr>
          <p:cNvPr id="21" name="Текст 4"/>
          <p:cNvSpPr>
            <a:spLocks noGrp="1"/>
          </p:cNvSpPr>
          <p:nvPr>
            <p:ph type="body" sz="quarter" idx="14" hasCustomPrompt="1"/>
          </p:nvPr>
        </p:nvSpPr>
        <p:spPr>
          <a:xfrm>
            <a:off x="4270385" y="2023563"/>
            <a:ext cx="3835389" cy="285274"/>
          </a:xfrm>
        </p:spPr>
        <p:txBody>
          <a:bodyPr anchor="b">
            <a:normAutofit/>
          </a:bodyPr>
          <a:lstStyle>
            <a:lvl1pPr marL="0" indent="0">
              <a:buNone/>
              <a:defRPr sz="1100" b="1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09.03.04 ПРОГРАММНАЯ ИНЖЕНЕРИЯ</a:t>
            </a:r>
          </a:p>
        </p:txBody>
      </p:sp>
      <p:sp>
        <p:nvSpPr>
          <p:cNvPr id="2" name="Прямоугольник 1"/>
          <p:cNvSpPr/>
          <p:nvPr userDrawn="1"/>
        </p:nvSpPr>
        <p:spPr>
          <a:xfrm>
            <a:off x="369115" y="66517"/>
            <a:ext cx="8598716" cy="6924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300" b="1" dirty="0" smtClean="0">
                <a:latin typeface="Arial" panose="020B0604020202020204" pitchFamily="34" charset="0"/>
                <a:cs typeface="Arial" panose="020B0604020202020204" pitchFamily="34" charset="0"/>
              </a:rPr>
              <a:t>МИНИСТЕРСТВО НАУКИ И ВЫСШЕГО ОБРАЗОВАНИЯ  РОССИЙСКОЙ  ФЕДЕРАЦИИ</a:t>
            </a:r>
          </a:p>
          <a:p>
            <a:pPr algn="ctr"/>
            <a:r>
              <a:rPr lang="ru-RU" sz="1300" b="1" dirty="0" smtClean="0">
                <a:latin typeface="Arial" panose="020B0604020202020204" pitchFamily="34" charset="0"/>
                <a:cs typeface="Arial" panose="020B0604020202020204" pitchFamily="34" charset="0"/>
              </a:rPr>
              <a:t>Федеральное государственное автономное образовательное учреждение высшего образования</a:t>
            </a:r>
            <a:endParaRPr lang="ru-RU" sz="13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ru-RU" sz="13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«Национальный исследовательский ядерный университет «МИФИ»</a:t>
            </a:r>
            <a:endParaRPr lang="ru-RU" sz="13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358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925882"/>
            <a:ext cx="7886700" cy="525108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9" name="Ромб 8">
            <a:extLst>
              <a:ext uri="{FF2B5EF4-FFF2-40B4-BE49-F238E27FC236}">
                <a16:creationId xmlns:a16="http://schemas.microsoft.com/office/drawing/2014/main" id="{BE9DDADD-50C1-4FE1-B40A-6752FC1EE7F7}"/>
              </a:ext>
            </a:extLst>
          </p:cNvPr>
          <p:cNvSpPr/>
          <p:nvPr userDrawn="1"/>
        </p:nvSpPr>
        <p:spPr>
          <a:xfrm>
            <a:off x="4342446" y="6599750"/>
            <a:ext cx="524152" cy="280800"/>
          </a:xfrm>
          <a:prstGeom prst="diamond">
            <a:avLst/>
          </a:prstGeom>
          <a:solidFill>
            <a:schemeClr val="bg1"/>
          </a:solidFill>
          <a:ln w="6350">
            <a:solidFill>
              <a:srgbClr val="5375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800"/>
          </a:p>
        </p:txBody>
      </p:sp>
      <p:sp>
        <p:nvSpPr>
          <p:cNvPr id="8" name="Номер слайда 25">
            <a:extLst>
              <a:ext uri="{FF2B5EF4-FFF2-40B4-BE49-F238E27FC236}">
                <a16:creationId xmlns:a16="http://schemas.microsoft.com/office/drawing/2014/main" id="{D8849AD0-4B2B-416B-B28D-8FFBBC86B1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84532" y="6591826"/>
            <a:ext cx="427500" cy="287102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/>
          <a:lstStyle>
            <a:lvl1pPr algn="ctr">
              <a:defRPr sz="1200">
                <a:ln>
                  <a:solidFill>
                    <a:srgbClr val="537599"/>
                  </a:solidFill>
                </a:ln>
                <a:solidFill>
                  <a:schemeClr val="bg1"/>
                </a:solidFill>
              </a:defRPr>
            </a:lvl1pPr>
          </a:lstStyle>
          <a:p>
            <a:fld id="{24882390-5E8C-4CFA-AF90-B2445B96FD8B}" type="slidenum">
              <a:rPr lang="ru-RU" smtClean="0"/>
              <a:pPr/>
              <a:t>‹#›</a:t>
            </a:fld>
            <a:endParaRPr lang="ru-RU" dirty="0"/>
          </a:p>
        </p:txBody>
      </p: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074966E4-0548-4C0B-AB29-8323106D8496}"/>
              </a:ext>
            </a:extLst>
          </p:cNvPr>
          <p:cNvCxnSpPr>
            <a:cxnSpLocks/>
          </p:cNvCxnSpPr>
          <p:nvPr userDrawn="1"/>
        </p:nvCxnSpPr>
        <p:spPr>
          <a:xfrm>
            <a:off x="628650" y="761362"/>
            <a:ext cx="7886700" cy="0"/>
          </a:xfrm>
          <a:prstGeom prst="line">
            <a:avLst/>
          </a:prstGeom>
          <a:ln w="22225">
            <a:solidFill>
              <a:srgbClr val="5375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9803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902922"/>
            <a:ext cx="3886200" cy="527404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902922"/>
            <a:ext cx="3886200" cy="527404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8" name="Ромб 7">
            <a:extLst>
              <a:ext uri="{FF2B5EF4-FFF2-40B4-BE49-F238E27FC236}">
                <a16:creationId xmlns:a16="http://schemas.microsoft.com/office/drawing/2014/main" id="{BAEF36E8-808B-4C41-A349-5DAE85BF6B11}"/>
              </a:ext>
            </a:extLst>
          </p:cNvPr>
          <p:cNvSpPr/>
          <p:nvPr userDrawn="1"/>
        </p:nvSpPr>
        <p:spPr>
          <a:xfrm>
            <a:off x="4342446" y="6599750"/>
            <a:ext cx="524152" cy="280800"/>
          </a:xfrm>
          <a:prstGeom prst="diamond">
            <a:avLst/>
          </a:prstGeom>
          <a:solidFill>
            <a:schemeClr val="bg1"/>
          </a:solidFill>
          <a:ln w="6350">
            <a:solidFill>
              <a:srgbClr val="5375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800"/>
          </a:p>
        </p:txBody>
      </p:sp>
      <p:sp>
        <p:nvSpPr>
          <p:cNvPr id="9" name="Номер слайда 25">
            <a:extLst>
              <a:ext uri="{FF2B5EF4-FFF2-40B4-BE49-F238E27FC236}">
                <a16:creationId xmlns:a16="http://schemas.microsoft.com/office/drawing/2014/main" id="{45B6DAB1-A906-4CFB-8A5B-187F881889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84532" y="6591826"/>
            <a:ext cx="427500" cy="287102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/>
          <a:lstStyle>
            <a:lvl1pPr algn="ctr">
              <a:defRPr sz="1200">
                <a:ln>
                  <a:solidFill>
                    <a:srgbClr val="537599"/>
                  </a:solidFill>
                </a:ln>
                <a:solidFill>
                  <a:schemeClr val="bg1"/>
                </a:solidFill>
              </a:defRPr>
            </a:lvl1pPr>
          </a:lstStyle>
          <a:p>
            <a:fld id="{24882390-5E8C-4CFA-AF90-B2445B96FD8B}" type="slidenum">
              <a:rPr lang="ru-RU" smtClean="0"/>
              <a:pPr/>
              <a:t>‹#›</a:t>
            </a:fld>
            <a:endParaRPr lang="ru-RU" dirty="0"/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B54105DA-C2EB-4205-B06C-66D873215EA6}"/>
              </a:ext>
            </a:extLst>
          </p:cNvPr>
          <p:cNvCxnSpPr>
            <a:cxnSpLocks/>
          </p:cNvCxnSpPr>
          <p:nvPr userDrawn="1"/>
        </p:nvCxnSpPr>
        <p:spPr>
          <a:xfrm>
            <a:off x="628650" y="761362"/>
            <a:ext cx="7886700" cy="0"/>
          </a:xfrm>
          <a:prstGeom prst="line">
            <a:avLst/>
          </a:prstGeom>
          <a:ln w="22225">
            <a:solidFill>
              <a:srgbClr val="5375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6987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рисун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Ромб 7">
            <a:extLst>
              <a:ext uri="{FF2B5EF4-FFF2-40B4-BE49-F238E27FC236}">
                <a16:creationId xmlns:a16="http://schemas.microsoft.com/office/drawing/2014/main" id="{BAEF36E8-808B-4C41-A349-5DAE85BF6B11}"/>
              </a:ext>
            </a:extLst>
          </p:cNvPr>
          <p:cNvSpPr/>
          <p:nvPr userDrawn="1"/>
        </p:nvSpPr>
        <p:spPr>
          <a:xfrm>
            <a:off x="4342446" y="6599750"/>
            <a:ext cx="524152" cy="280800"/>
          </a:xfrm>
          <a:prstGeom prst="diamond">
            <a:avLst/>
          </a:prstGeom>
          <a:solidFill>
            <a:schemeClr val="bg1"/>
          </a:solidFill>
          <a:ln w="6350">
            <a:solidFill>
              <a:srgbClr val="5375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800"/>
          </a:p>
        </p:txBody>
      </p:sp>
      <p:sp>
        <p:nvSpPr>
          <p:cNvPr id="9" name="Номер слайда 25">
            <a:extLst>
              <a:ext uri="{FF2B5EF4-FFF2-40B4-BE49-F238E27FC236}">
                <a16:creationId xmlns:a16="http://schemas.microsoft.com/office/drawing/2014/main" id="{45B6DAB1-A906-4CFB-8A5B-187F881889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84532" y="6591826"/>
            <a:ext cx="427500" cy="287102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/>
          <a:lstStyle>
            <a:lvl1pPr algn="ctr">
              <a:defRPr sz="1200">
                <a:ln>
                  <a:solidFill>
                    <a:srgbClr val="537599"/>
                  </a:solidFill>
                </a:ln>
                <a:solidFill>
                  <a:schemeClr val="bg1"/>
                </a:solidFill>
              </a:defRPr>
            </a:lvl1pPr>
          </a:lstStyle>
          <a:p>
            <a:fld id="{24882390-5E8C-4CFA-AF90-B2445B96FD8B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6" name="Рисунок 5">
            <a:extLst>
              <a:ext uri="{FF2B5EF4-FFF2-40B4-BE49-F238E27FC236}">
                <a16:creationId xmlns:a16="http://schemas.microsoft.com/office/drawing/2014/main" id="{199A7222-F73B-4B85-8114-99559142FB8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8650" y="903600"/>
            <a:ext cx="3886200" cy="5092330"/>
          </a:xfrm>
        </p:spPr>
        <p:txBody>
          <a:bodyPr/>
          <a:lstStyle/>
          <a:p>
            <a:endParaRPr lang="ru-RU"/>
          </a:p>
        </p:txBody>
      </p:sp>
      <p:sp>
        <p:nvSpPr>
          <p:cNvPr id="10" name="Рисунок 5">
            <a:extLst>
              <a:ext uri="{FF2B5EF4-FFF2-40B4-BE49-F238E27FC236}">
                <a16:creationId xmlns:a16="http://schemas.microsoft.com/office/drawing/2014/main" id="{4469B468-9231-4A96-ABBB-527F4CF013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629150" y="903600"/>
            <a:ext cx="3886200" cy="5092330"/>
          </a:xfrm>
        </p:spPr>
        <p:txBody>
          <a:bodyPr/>
          <a:lstStyle/>
          <a:p>
            <a:endParaRPr lang="ru-RU"/>
          </a:p>
        </p:txBody>
      </p: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572CC4C8-BB63-46DD-B7CD-9B255830463D}"/>
              </a:ext>
            </a:extLst>
          </p:cNvPr>
          <p:cNvCxnSpPr>
            <a:cxnSpLocks/>
          </p:cNvCxnSpPr>
          <p:nvPr userDrawn="1"/>
        </p:nvCxnSpPr>
        <p:spPr>
          <a:xfrm>
            <a:off x="628650" y="761362"/>
            <a:ext cx="7886700" cy="0"/>
          </a:xfrm>
          <a:prstGeom prst="line">
            <a:avLst/>
          </a:prstGeom>
          <a:ln w="22225">
            <a:solidFill>
              <a:srgbClr val="5375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80041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000"/>
            <a:ext cx="7886700" cy="6876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903600"/>
            <a:ext cx="3868340" cy="550258"/>
          </a:xfrm>
        </p:spPr>
        <p:txBody>
          <a:bodyPr anchor="b">
            <a:normAutofit/>
          </a:bodyPr>
          <a:lstStyle>
            <a:lvl1pPr marL="0" indent="0">
              <a:lnSpc>
                <a:spcPct val="50000"/>
              </a:lnSpc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</a:t>
            </a:r>
          </a:p>
          <a:p>
            <a:pPr lvl="0"/>
            <a:r>
              <a:rPr lang="ru-RU" dirty="0"/>
              <a:t>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561664"/>
            <a:ext cx="3868340" cy="46280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2" y="903600"/>
            <a:ext cx="3887391" cy="550258"/>
          </a:xfrm>
        </p:spPr>
        <p:txBody>
          <a:bodyPr anchor="b">
            <a:normAutofit/>
          </a:bodyPr>
          <a:lstStyle>
            <a:lvl1pPr marL="0" indent="0">
              <a:lnSpc>
                <a:spcPct val="50000"/>
              </a:lnSpc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</a:t>
            </a:r>
          </a:p>
          <a:p>
            <a:pPr lvl="0"/>
            <a:r>
              <a:rPr lang="ru-RU" dirty="0"/>
              <a:t>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2" y="1561664"/>
            <a:ext cx="3887391" cy="46280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0" name="Ромб 9">
            <a:extLst>
              <a:ext uri="{FF2B5EF4-FFF2-40B4-BE49-F238E27FC236}">
                <a16:creationId xmlns:a16="http://schemas.microsoft.com/office/drawing/2014/main" id="{5BCECF39-A88B-4C42-99F7-2ED7AD335866}"/>
              </a:ext>
            </a:extLst>
          </p:cNvPr>
          <p:cNvSpPr/>
          <p:nvPr userDrawn="1"/>
        </p:nvSpPr>
        <p:spPr>
          <a:xfrm>
            <a:off x="4342446" y="6599750"/>
            <a:ext cx="524152" cy="280800"/>
          </a:xfrm>
          <a:prstGeom prst="diamond">
            <a:avLst/>
          </a:prstGeom>
          <a:solidFill>
            <a:schemeClr val="bg1"/>
          </a:solidFill>
          <a:ln w="6350">
            <a:solidFill>
              <a:srgbClr val="5375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800"/>
          </a:p>
        </p:txBody>
      </p:sp>
      <p:sp>
        <p:nvSpPr>
          <p:cNvPr id="11" name="Номер слайда 25">
            <a:extLst>
              <a:ext uri="{FF2B5EF4-FFF2-40B4-BE49-F238E27FC236}">
                <a16:creationId xmlns:a16="http://schemas.microsoft.com/office/drawing/2014/main" id="{82209009-8931-4F39-AFC3-332DC2C31C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4384532" y="6591826"/>
            <a:ext cx="427500" cy="287102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/>
          <a:lstStyle>
            <a:lvl1pPr algn="ctr">
              <a:defRPr sz="1200">
                <a:ln>
                  <a:solidFill>
                    <a:srgbClr val="537599"/>
                  </a:solidFill>
                </a:ln>
                <a:solidFill>
                  <a:schemeClr val="bg1"/>
                </a:solidFill>
              </a:defRPr>
            </a:lvl1pPr>
          </a:lstStyle>
          <a:p>
            <a:fld id="{24882390-5E8C-4CFA-AF90-B2445B96FD8B}" type="slidenum">
              <a:rPr lang="ru-RU" smtClean="0"/>
              <a:pPr/>
              <a:t>‹#›</a:t>
            </a:fld>
            <a:endParaRPr lang="ru-RU" dirty="0"/>
          </a:p>
        </p:txBody>
      </p: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0550351E-7D6F-4C22-B086-34698292BA26}"/>
              </a:ext>
            </a:extLst>
          </p:cNvPr>
          <p:cNvCxnSpPr>
            <a:cxnSpLocks/>
          </p:cNvCxnSpPr>
          <p:nvPr userDrawn="1"/>
        </p:nvCxnSpPr>
        <p:spPr>
          <a:xfrm>
            <a:off x="628652" y="761362"/>
            <a:ext cx="7887891" cy="0"/>
          </a:xfrm>
          <a:prstGeom prst="line">
            <a:avLst/>
          </a:prstGeom>
          <a:ln w="22225">
            <a:solidFill>
              <a:srgbClr val="5375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7454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6" name="Ромб 5">
            <a:extLst>
              <a:ext uri="{FF2B5EF4-FFF2-40B4-BE49-F238E27FC236}">
                <a16:creationId xmlns:a16="http://schemas.microsoft.com/office/drawing/2014/main" id="{6E3C7148-48C5-412D-A636-2B912D6D76DD}"/>
              </a:ext>
            </a:extLst>
          </p:cNvPr>
          <p:cNvSpPr/>
          <p:nvPr userDrawn="1"/>
        </p:nvSpPr>
        <p:spPr>
          <a:xfrm>
            <a:off x="4342446" y="6599750"/>
            <a:ext cx="524152" cy="280800"/>
          </a:xfrm>
          <a:prstGeom prst="diamond">
            <a:avLst/>
          </a:prstGeom>
          <a:solidFill>
            <a:schemeClr val="bg1"/>
          </a:solidFill>
          <a:ln w="6350">
            <a:solidFill>
              <a:srgbClr val="5375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800"/>
          </a:p>
        </p:txBody>
      </p:sp>
      <p:sp>
        <p:nvSpPr>
          <p:cNvPr id="7" name="Номер слайда 25">
            <a:extLst>
              <a:ext uri="{FF2B5EF4-FFF2-40B4-BE49-F238E27FC236}">
                <a16:creationId xmlns:a16="http://schemas.microsoft.com/office/drawing/2014/main" id="{58957B7E-92D6-40EF-980D-1EA85EDEA8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84532" y="6591826"/>
            <a:ext cx="427500" cy="287102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/>
          <a:lstStyle>
            <a:lvl1pPr algn="ctr">
              <a:defRPr sz="1200">
                <a:ln>
                  <a:solidFill>
                    <a:srgbClr val="537599"/>
                  </a:solidFill>
                </a:ln>
                <a:solidFill>
                  <a:schemeClr val="bg1"/>
                </a:solidFill>
              </a:defRPr>
            </a:lvl1pPr>
          </a:lstStyle>
          <a:p>
            <a:fld id="{24882390-5E8C-4CFA-AF90-B2445B96FD8B}" type="slidenum">
              <a:rPr lang="ru-RU" smtClean="0"/>
              <a:pPr/>
              <a:t>‹#›</a:t>
            </a:fld>
            <a:endParaRPr lang="ru-RU" dirty="0"/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13E6A997-A5BE-466D-AA27-19A14543B654}"/>
              </a:ext>
            </a:extLst>
          </p:cNvPr>
          <p:cNvCxnSpPr>
            <a:cxnSpLocks/>
          </p:cNvCxnSpPr>
          <p:nvPr userDrawn="1"/>
        </p:nvCxnSpPr>
        <p:spPr>
          <a:xfrm>
            <a:off x="628650" y="761362"/>
            <a:ext cx="7886700" cy="0"/>
          </a:xfrm>
          <a:prstGeom prst="line">
            <a:avLst/>
          </a:prstGeom>
          <a:ln w="22225">
            <a:solidFill>
              <a:srgbClr val="5375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0261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Ромб 4">
            <a:extLst>
              <a:ext uri="{FF2B5EF4-FFF2-40B4-BE49-F238E27FC236}">
                <a16:creationId xmlns:a16="http://schemas.microsoft.com/office/drawing/2014/main" id="{10E087FF-C48F-43A3-B51E-CB79F6A1DBFD}"/>
              </a:ext>
            </a:extLst>
          </p:cNvPr>
          <p:cNvSpPr/>
          <p:nvPr userDrawn="1"/>
        </p:nvSpPr>
        <p:spPr>
          <a:xfrm>
            <a:off x="4342446" y="6599750"/>
            <a:ext cx="524152" cy="280800"/>
          </a:xfrm>
          <a:prstGeom prst="diamond">
            <a:avLst/>
          </a:prstGeom>
          <a:solidFill>
            <a:schemeClr val="bg1"/>
          </a:solidFill>
          <a:ln w="6350">
            <a:solidFill>
              <a:srgbClr val="5375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800"/>
          </a:p>
        </p:txBody>
      </p:sp>
      <p:sp>
        <p:nvSpPr>
          <p:cNvPr id="6" name="Номер слайда 25">
            <a:extLst>
              <a:ext uri="{FF2B5EF4-FFF2-40B4-BE49-F238E27FC236}">
                <a16:creationId xmlns:a16="http://schemas.microsoft.com/office/drawing/2014/main" id="{7D87A676-E0D2-4A74-AC09-ACAD121028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84532" y="6591826"/>
            <a:ext cx="427500" cy="287102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/>
          <a:lstStyle>
            <a:lvl1pPr algn="ctr">
              <a:defRPr sz="1200">
                <a:ln>
                  <a:solidFill>
                    <a:srgbClr val="537599"/>
                  </a:solidFill>
                </a:ln>
                <a:solidFill>
                  <a:schemeClr val="bg1"/>
                </a:solidFill>
              </a:defRPr>
            </a:lvl1pPr>
          </a:lstStyle>
          <a:p>
            <a:fld id="{24882390-5E8C-4CFA-AF90-B2445B96FD8B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15373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72052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815AD966-4302-48E2-9828-B1F03FA0B06C}"/>
              </a:ext>
            </a:extLst>
          </p:cNvPr>
          <p:cNvSpPr/>
          <p:nvPr userDrawn="1"/>
        </p:nvSpPr>
        <p:spPr bwMode="auto">
          <a:xfrm rot="5400000">
            <a:off x="-3272458" y="3265886"/>
            <a:ext cx="6901104" cy="369332"/>
          </a:xfrm>
          <a:prstGeom prst="rect">
            <a:avLst/>
          </a:prstGeom>
          <a:solidFill>
            <a:srgbClr val="537599"/>
          </a:solidFill>
          <a:ln w="25400" cap="flat" cmpd="sng" algn="ctr">
            <a:noFill/>
            <a:prstDash val="solid"/>
            <a:bevel/>
            <a:headEnd type="none" w="med" len="med"/>
            <a:tailEnd type="none" w="med" len="med"/>
          </a:ln>
          <a:effectLst/>
          <a:extLst/>
        </p:spPr>
        <p:txBody>
          <a:bodyPr vert="horz" wrap="square" lIns="45720" tIns="45720" rIns="4572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itchFamily="34" charset="0"/>
              <a:cs typeface="Arial" pitchFamily="34" charset="0"/>
              <a:sym typeface="Arial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2043553-3B14-472E-B596-C069E0028D39}"/>
              </a:ext>
            </a:extLst>
          </p:cNvPr>
          <p:cNvSpPr txBox="1"/>
          <p:nvPr userDrawn="1"/>
        </p:nvSpPr>
        <p:spPr>
          <a:xfrm>
            <a:off x="946" y="8307"/>
            <a:ext cx="357238" cy="6740307"/>
          </a:xfrm>
          <a:prstGeom prst="rect">
            <a:avLst/>
          </a:prstGeom>
          <a:noFill/>
        </p:spPr>
        <p:txBody>
          <a:bodyPr wrap="square" lIns="18000" rIns="1800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ru-RU" sz="800" dirty="0">
                <a:solidFill>
                  <a:schemeClr val="tx1">
                    <a:alpha val="10000"/>
                  </a:schemeClr>
                </a:solidFill>
              </a:rPr>
              <a:t>01010100010010010010101010101010000001010101011111101010101010111111111110010010010101000101001010101001010010101001010010000001000011</a:t>
            </a:r>
            <a:r>
              <a:rPr lang="en-US" sz="800" dirty="0">
                <a:solidFill>
                  <a:schemeClr val="tx1">
                    <a:alpha val="10000"/>
                  </a:schemeClr>
                </a:solidFill>
              </a:rPr>
              <a:t>100100100100001010000101111111111110101010100100101111110010001000101011111000000100101101010101010101000011110</a:t>
            </a:r>
            <a:r>
              <a:rPr lang="ru-RU" sz="800" dirty="0">
                <a:solidFill>
                  <a:schemeClr val="tx1">
                    <a:alpha val="10000"/>
                  </a:schemeClr>
                </a:solidFill>
              </a:rPr>
              <a:t>00110000100101010010111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15AD966-4302-48E2-9828-B1F03FA0B06C}"/>
              </a:ext>
            </a:extLst>
          </p:cNvPr>
          <p:cNvSpPr/>
          <p:nvPr userDrawn="1"/>
        </p:nvSpPr>
        <p:spPr bwMode="auto">
          <a:xfrm>
            <a:off x="0" y="6556718"/>
            <a:ext cx="9144000" cy="369332"/>
          </a:xfrm>
          <a:prstGeom prst="rect">
            <a:avLst/>
          </a:prstGeom>
          <a:solidFill>
            <a:srgbClr val="537599"/>
          </a:solidFill>
          <a:ln w="25400" cap="flat" cmpd="sng" algn="ctr">
            <a:noFill/>
            <a:prstDash val="solid"/>
            <a:bevel/>
            <a:headEnd type="none" w="med" len="med"/>
            <a:tailEnd type="none" w="med" len="med"/>
          </a:ln>
          <a:effectLst/>
          <a:extLst/>
        </p:spPr>
        <p:txBody>
          <a:bodyPr vert="horz" wrap="square" lIns="45720" tIns="45720" rIns="4572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itchFamily="34" charset="0"/>
              <a:cs typeface="Arial" pitchFamily="34" charset="0"/>
              <a:sym typeface="Arial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041EA13-1187-4A3C-BF37-92B8738E17CC}"/>
              </a:ext>
            </a:extLst>
          </p:cNvPr>
          <p:cNvSpPr txBox="1"/>
          <p:nvPr userDrawn="1"/>
        </p:nvSpPr>
        <p:spPr>
          <a:xfrm>
            <a:off x="-6572" y="6562550"/>
            <a:ext cx="9146746" cy="338554"/>
          </a:xfrm>
          <a:prstGeom prst="rect">
            <a:avLst/>
          </a:prstGeom>
          <a:noFill/>
        </p:spPr>
        <p:txBody>
          <a:bodyPr wrap="square" lIns="18000" rIns="18000" rtlCol="0">
            <a:spAutoFit/>
          </a:bodyPr>
          <a:lstStyle/>
          <a:p>
            <a:r>
              <a:rPr lang="ru-RU" sz="800" dirty="0">
                <a:solidFill>
                  <a:schemeClr val="tx1">
                    <a:alpha val="10000"/>
                  </a:schemeClr>
                </a:solidFill>
              </a:rPr>
              <a:t>0101010001001001001010101010101000000101010101111110101010101011111111111001001001010100010100101010100101001010100101001000000100001001010101010101011111111101000010010101011110101010101010110101010101010011001101010101010000010010101001000100010010111111101011110101111101011111111010101010110101010100101010101011011010111111011010100110000100101010010111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094"/>
            <a:ext cx="7886700" cy="6870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EC48BF25-72CE-40D3-AEF7-19ED32CA997A}"/>
              </a:ext>
            </a:extLst>
          </p:cNvPr>
          <p:cNvSpPr/>
          <p:nvPr userDrawn="1"/>
        </p:nvSpPr>
        <p:spPr bwMode="auto">
          <a:xfrm>
            <a:off x="8171381" y="5948484"/>
            <a:ext cx="972000" cy="972000"/>
          </a:xfrm>
          <a:prstGeom prst="ellipse">
            <a:avLst/>
          </a:prstGeom>
          <a:solidFill>
            <a:srgbClr val="FFFFFF"/>
          </a:solidFill>
          <a:ln w="25400" cap="flat" cmpd="sng" algn="ctr">
            <a:noFill/>
            <a:prstDash val="solid"/>
            <a:bevel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5720" tIns="45720" rIns="4572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itchFamily="34" charset="0"/>
              <a:cs typeface="Arial" pitchFamily="34" charset="0"/>
              <a:sym typeface="Arial" pitchFamily="34" charset="0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7E671DEE-97FB-4F25-B803-F0D41F5830C0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8209447" y="6038484"/>
            <a:ext cx="907780" cy="7920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1452694-CC9C-43F6-AEB8-56C95B5E244C}"/>
              </a:ext>
            </a:extLst>
          </p:cNvPr>
          <p:cNvSpPr txBox="1"/>
          <p:nvPr userDrawn="1"/>
        </p:nvSpPr>
        <p:spPr>
          <a:xfrm>
            <a:off x="7344112" y="6501575"/>
            <a:ext cx="92365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www.kaf22.ru</a:t>
            </a:r>
            <a:endParaRPr lang="ru-RU" sz="1000" dirty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2BA0A7D-843A-42F6-A93A-7F372F48E8E3}"/>
              </a:ext>
            </a:extLst>
          </p:cNvPr>
          <p:cNvSpPr txBox="1"/>
          <p:nvPr userDrawn="1"/>
        </p:nvSpPr>
        <p:spPr>
          <a:xfrm>
            <a:off x="6483895" y="6364839"/>
            <a:ext cx="181457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>
                <a:solidFill>
                  <a:srgbClr val="537599"/>
                </a:solidFill>
              </a:rPr>
              <a:t>Кафедра №22 «Кибернетика»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084556"/>
            <a:ext cx="7886700" cy="50924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26" name="Номер слайда 25">
            <a:extLst>
              <a:ext uri="{FF2B5EF4-FFF2-40B4-BE49-F238E27FC236}">
                <a16:creationId xmlns:a16="http://schemas.microsoft.com/office/drawing/2014/main" id="{42C05CDA-94F1-4017-849E-91F43794EE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57381" y="112172"/>
            <a:ext cx="4275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537599"/>
            </a:solidFill>
          </a:ln>
        </p:spPr>
        <p:txBody>
          <a:bodyPr vert="horz" lIns="91440" tIns="45720" rIns="91440" bIns="45720" rtlCol="0" anchor="ctr"/>
          <a:lstStyle>
            <a:lvl1pPr algn="ctr">
              <a:defRPr sz="1200">
                <a:ln>
                  <a:solidFill>
                    <a:srgbClr val="537599"/>
                  </a:solidFill>
                </a:ln>
                <a:solidFill>
                  <a:schemeClr val="bg1"/>
                </a:solidFill>
              </a:defRPr>
            </a:lvl1pPr>
          </a:lstStyle>
          <a:p>
            <a:fld id="{24882390-5E8C-4CFA-AF90-B2445B96FD8B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DC48568F-3887-4E0C-9A67-562A7C93CD80}"/>
              </a:ext>
            </a:extLst>
          </p:cNvPr>
          <p:cNvSpPr/>
          <p:nvPr userDrawn="1"/>
        </p:nvSpPr>
        <p:spPr bwMode="auto">
          <a:xfrm>
            <a:off x="142" y="5944226"/>
            <a:ext cx="972000" cy="972000"/>
          </a:xfrm>
          <a:prstGeom prst="ellipse">
            <a:avLst/>
          </a:prstGeom>
          <a:solidFill>
            <a:srgbClr val="FFFFFF"/>
          </a:solidFill>
          <a:ln w="25400" cap="flat" cmpd="sng" algn="ctr">
            <a:noFill/>
            <a:prstDash val="solid"/>
            <a:bevel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5720" tIns="45720" rIns="4572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itchFamily="34" charset="0"/>
              <a:cs typeface="Arial" pitchFamily="34" charset="0"/>
              <a:sym typeface="Arial" pitchFamily="34" charset="0"/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F1D996F7-15DE-4568-A6EE-4FC63ECE8488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1237" y="6034226"/>
            <a:ext cx="767684" cy="792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E5E14EE-4BBF-41D9-953D-90E980C4FC24}"/>
              </a:ext>
            </a:extLst>
          </p:cNvPr>
          <p:cNvSpPr txBox="1"/>
          <p:nvPr userDrawn="1"/>
        </p:nvSpPr>
        <p:spPr>
          <a:xfrm>
            <a:off x="886699" y="6498400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n>
                  <a:noFill/>
                </a:ln>
                <a:solidFill>
                  <a:schemeClr val="bg1"/>
                </a:solidFill>
              </a:rPr>
              <a:t>www.mephi.ru</a:t>
            </a:r>
            <a:endParaRPr lang="ru-RU" sz="1000" dirty="0">
              <a:ln>
                <a:noFill/>
              </a:ln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5A4C9A7-6C12-4AD6-ABA3-D08646DA6E43}"/>
              </a:ext>
            </a:extLst>
          </p:cNvPr>
          <p:cNvSpPr txBox="1"/>
          <p:nvPr userDrawn="1"/>
        </p:nvSpPr>
        <p:spPr>
          <a:xfrm>
            <a:off x="874516" y="6383251"/>
            <a:ext cx="87556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>
                <a:solidFill>
                  <a:srgbClr val="537599"/>
                </a:solidFill>
              </a:rPr>
              <a:t>НИЯУ МИФИ</a:t>
            </a:r>
          </a:p>
        </p:txBody>
      </p:sp>
    </p:spTree>
    <p:extLst>
      <p:ext uri="{BB962C8B-B14F-4D97-AF65-F5344CB8AC3E}">
        <p14:creationId xmlns:p14="http://schemas.microsoft.com/office/powerpoint/2010/main" val="4085248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9" r:id="rId2"/>
    <p:sldLayoutId id="2147483670" r:id="rId3"/>
    <p:sldLayoutId id="2147483662" r:id="rId4"/>
    <p:sldLayoutId id="2147483664" r:id="rId5"/>
    <p:sldLayoutId id="2147483668" r:id="rId6"/>
    <p:sldLayoutId id="2147483665" r:id="rId7"/>
    <p:sldLayoutId id="2147483666" r:id="rId8"/>
    <p:sldLayoutId id="2147483667" r:id="rId9"/>
    <p:sldLayoutId id="2147483671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/>
          <p:nvPr/>
        </p:nvSpPr>
        <p:spPr>
          <a:xfrm>
            <a:off x="630173" y="762762"/>
            <a:ext cx="7848600" cy="0"/>
          </a:xfrm>
          <a:custGeom>
            <a:avLst/>
            <a:gdLst/>
            <a:ahLst/>
            <a:cxnLst/>
            <a:rect l="l" t="t" r="r" b="b"/>
            <a:pathLst>
              <a:path w="7848600">
                <a:moveTo>
                  <a:pt x="0" y="0"/>
                </a:moveTo>
                <a:lnTo>
                  <a:pt x="7848600" y="0"/>
                </a:lnTo>
              </a:path>
            </a:pathLst>
          </a:custGeom>
          <a:ln w="22860">
            <a:solidFill>
              <a:srgbClr val="5275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226055" y="1434210"/>
            <a:ext cx="4867910" cy="501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"/>
                <a:cs typeface="Arial"/>
              </a:rPr>
              <a:t>ИНСТИТУТ</a:t>
            </a:r>
            <a:r>
              <a:rPr sz="1200" b="1" spc="-6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ИНТЕЛЛЕКТУАЛЬНЫХ</a:t>
            </a:r>
            <a:r>
              <a:rPr sz="1200" b="1" spc="-3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КИБЕРНЕТИЧЕСКИХ</a:t>
            </a:r>
            <a:r>
              <a:rPr sz="1200" b="1" spc="-80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СИСТЕМ</a:t>
            </a:r>
            <a:endParaRPr sz="1200">
              <a:latin typeface="Arial"/>
              <a:cs typeface="Arial"/>
            </a:endParaRPr>
          </a:p>
          <a:p>
            <a:pPr marL="2540" algn="ctr">
              <a:lnSpc>
                <a:spcPct val="100000"/>
              </a:lnSpc>
              <a:spcBef>
                <a:spcPts val="865"/>
              </a:spcBef>
            </a:pPr>
            <a:r>
              <a:rPr sz="1200" b="1" dirty="0">
                <a:latin typeface="Arial"/>
                <a:cs typeface="Arial"/>
              </a:rPr>
              <a:t>КАФЕДРА</a:t>
            </a:r>
            <a:r>
              <a:rPr sz="1200" b="1" spc="-3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КИБЕРНЕТИКИ</a:t>
            </a:r>
            <a:r>
              <a:rPr sz="1200" b="1" spc="-6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(№</a:t>
            </a:r>
            <a:r>
              <a:rPr sz="1200" b="1" spc="-55" dirty="0">
                <a:latin typeface="Arial"/>
                <a:cs typeface="Arial"/>
              </a:rPr>
              <a:t> </a:t>
            </a:r>
            <a:r>
              <a:rPr sz="1200" b="1" spc="-25" dirty="0">
                <a:latin typeface="Arial"/>
                <a:cs typeface="Arial"/>
              </a:rPr>
              <a:t>22)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087372" y="2031314"/>
            <a:ext cx="2131695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spc="-10" dirty="0">
                <a:latin typeface="Arial"/>
                <a:cs typeface="Arial"/>
              </a:rPr>
              <a:t>НАПРАВЛЕНИЕ</a:t>
            </a:r>
            <a:r>
              <a:rPr sz="1100" b="1" spc="20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ПОДГОТОВКИ</a:t>
            </a:r>
            <a:endParaRPr sz="1100">
              <a:latin typeface="Arial"/>
              <a:cs typeface="Arial"/>
            </a:endParaRPr>
          </a:p>
        </p:txBody>
      </p: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4162044" y="4626506"/>
          <a:ext cx="2524125" cy="10198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2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8450">
                <a:tc>
                  <a:txBody>
                    <a:bodyPr/>
                    <a:lstStyle/>
                    <a:p>
                      <a:pPr marR="24130" algn="r">
                        <a:lnSpc>
                          <a:spcPts val="1764"/>
                        </a:lnSpc>
                      </a:pPr>
                      <a:r>
                        <a:rPr sz="1600" b="1" spc="-10" dirty="0">
                          <a:latin typeface="Arial"/>
                          <a:cs typeface="Arial"/>
                        </a:rPr>
                        <a:t>Студент: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600" b="1" spc="-10" dirty="0">
                          <a:latin typeface="Arial"/>
                          <a:cs typeface="Arial"/>
                        </a:rPr>
                        <a:t>Группа: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2069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485">
                <a:tc>
                  <a:txBody>
                    <a:bodyPr/>
                    <a:lstStyle/>
                    <a:p>
                      <a:pPr marR="25400" algn="r">
                        <a:lnSpc>
                          <a:spcPts val="1839"/>
                        </a:lnSpc>
                        <a:spcBef>
                          <a:spcPts val="615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Научный</a:t>
                      </a:r>
                      <a:r>
                        <a:rPr sz="1600" b="1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10" dirty="0">
                          <a:latin typeface="Arial"/>
                          <a:cs typeface="Arial"/>
                        </a:rPr>
                        <a:t>руководитель: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7810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" name="object 18"/>
          <p:cNvSpPr txBox="1"/>
          <p:nvPr/>
        </p:nvSpPr>
        <p:spPr>
          <a:xfrm>
            <a:off x="2020823" y="2986464"/>
            <a:ext cx="5013960" cy="28638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5"/>
              </a:spcBef>
            </a:pPr>
            <a:r>
              <a:rPr sz="1600" spc="-10" dirty="0">
                <a:latin typeface="Arial Black"/>
                <a:cs typeface="Arial Black"/>
              </a:rPr>
              <a:t>Учебно-исследовательская</a:t>
            </a:r>
            <a:r>
              <a:rPr sz="1600" dirty="0">
                <a:latin typeface="Arial Black"/>
                <a:cs typeface="Arial Black"/>
              </a:rPr>
              <a:t> работа</a:t>
            </a:r>
            <a:r>
              <a:rPr sz="1600" spc="-20" dirty="0">
                <a:latin typeface="Arial Black"/>
                <a:cs typeface="Arial Black"/>
              </a:rPr>
              <a:t> </a:t>
            </a:r>
            <a:r>
              <a:rPr sz="1600" dirty="0">
                <a:latin typeface="Arial Black"/>
                <a:cs typeface="Arial Black"/>
              </a:rPr>
              <a:t>на</a:t>
            </a:r>
            <a:r>
              <a:rPr sz="1600" spc="10" dirty="0">
                <a:latin typeface="Arial Black"/>
                <a:cs typeface="Arial Black"/>
              </a:rPr>
              <a:t> </a:t>
            </a:r>
            <a:r>
              <a:rPr sz="1600" spc="-10" dirty="0">
                <a:latin typeface="Arial Black"/>
                <a:cs typeface="Arial Black"/>
              </a:rPr>
              <a:t>тему:</a:t>
            </a:r>
            <a:endParaRPr sz="1600">
              <a:latin typeface="Arial Black"/>
              <a:cs typeface="Arial Black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037965" y="6318580"/>
            <a:ext cx="1160780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15"/>
              </a:lnSpc>
            </a:pPr>
            <a:r>
              <a:rPr sz="1600" dirty="0">
                <a:latin typeface="Calibri"/>
                <a:cs typeface="Calibri"/>
              </a:rPr>
              <a:t>Москва,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2019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34085" y="94868"/>
            <a:ext cx="8065134" cy="619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latin typeface="Arial"/>
                <a:cs typeface="Arial"/>
              </a:rPr>
              <a:t>МИНИСТЕРСТВО</a:t>
            </a:r>
            <a:r>
              <a:rPr sz="1300" b="1" spc="-50" dirty="0">
                <a:latin typeface="Arial"/>
                <a:cs typeface="Arial"/>
              </a:rPr>
              <a:t> </a:t>
            </a:r>
            <a:r>
              <a:rPr sz="1300" b="1" dirty="0">
                <a:latin typeface="Arial"/>
                <a:cs typeface="Arial"/>
              </a:rPr>
              <a:t>НАУКИ</a:t>
            </a:r>
            <a:r>
              <a:rPr sz="1300" b="1" spc="-25" dirty="0">
                <a:latin typeface="Arial"/>
                <a:cs typeface="Arial"/>
              </a:rPr>
              <a:t> </a:t>
            </a:r>
            <a:r>
              <a:rPr sz="1300" b="1" dirty="0">
                <a:latin typeface="Arial"/>
                <a:cs typeface="Arial"/>
              </a:rPr>
              <a:t>И</a:t>
            </a:r>
            <a:r>
              <a:rPr sz="1300" b="1" spc="-65" dirty="0">
                <a:latin typeface="Arial"/>
                <a:cs typeface="Arial"/>
              </a:rPr>
              <a:t> </a:t>
            </a:r>
            <a:r>
              <a:rPr sz="1300" b="1" dirty="0">
                <a:latin typeface="Arial"/>
                <a:cs typeface="Arial"/>
              </a:rPr>
              <a:t>ВЫСШЕГО</a:t>
            </a:r>
            <a:r>
              <a:rPr sz="1300" b="1" spc="-30" dirty="0">
                <a:latin typeface="Arial"/>
                <a:cs typeface="Arial"/>
              </a:rPr>
              <a:t> </a:t>
            </a:r>
            <a:r>
              <a:rPr sz="1300" b="1" dirty="0">
                <a:latin typeface="Arial"/>
                <a:cs typeface="Arial"/>
              </a:rPr>
              <a:t>ОБРАЗОВАНИЯ</a:t>
            </a:r>
            <a:r>
              <a:rPr sz="1300" b="1" spc="290" dirty="0">
                <a:latin typeface="Arial"/>
                <a:cs typeface="Arial"/>
              </a:rPr>
              <a:t> </a:t>
            </a:r>
            <a:r>
              <a:rPr sz="1300" b="1" dirty="0">
                <a:latin typeface="Arial"/>
                <a:cs typeface="Arial"/>
              </a:rPr>
              <a:t>РОССИЙСКОЙ</a:t>
            </a:r>
            <a:r>
              <a:rPr sz="1300" b="1" spc="235" dirty="0">
                <a:latin typeface="Arial"/>
                <a:cs typeface="Arial"/>
              </a:rPr>
              <a:t> </a:t>
            </a:r>
            <a:r>
              <a:rPr sz="1300" b="1" spc="-10" dirty="0">
                <a:latin typeface="Arial"/>
                <a:cs typeface="Arial"/>
              </a:rPr>
              <a:t>ФЕДЕРАЦИИ</a:t>
            </a:r>
            <a:endParaRPr sz="13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300" b="1" dirty="0">
                <a:latin typeface="Arial"/>
                <a:cs typeface="Arial"/>
              </a:rPr>
              <a:t>Федеральное</a:t>
            </a:r>
            <a:r>
              <a:rPr sz="1300" b="1" spc="-60" dirty="0">
                <a:latin typeface="Arial"/>
                <a:cs typeface="Arial"/>
              </a:rPr>
              <a:t> </a:t>
            </a:r>
            <a:r>
              <a:rPr sz="1300" b="1" dirty="0">
                <a:latin typeface="Arial"/>
                <a:cs typeface="Arial"/>
              </a:rPr>
              <a:t>государственное</a:t>
            </a:r>
            <a:r>
              <a:rPr sz="1300" b="1" spc="-45" dirty="0">
                <a:latin typeface="Arial"/>
                <a:cs typeface="Arial"/>
              </a:rPr>
              <a:t> </a:t>
            </a:r>
            <a:r>
              <a:rPr sz="1300" b="1" dirty="0">
                <a:latin typeface="Arial"/>
                <a:cs typeface="Arial"/>
              </a:rPr>
              <a:t>автономное</a:t>
            </a:r>
            <a:r>
              <a:rPr sz="1300" b="1" spc="-45" dirty="0">
                <a:latin typeface="Arial"/>
                <a:cs typeface="Arial"/>
              </a:rPr>
              <a:t> </a:t>
            </a:r>
            <a:r>
              <a:rPr sz="1300" b="1" spc="-10" dirty="0">
                <a:latin typeface="Arial"/>
                <a:cs typeface="Arial"/>
              </a:rPr>
              <a:t>образовательное</a:t>
            </a:r>
            <a:r>
              <a:rPr sz="1300" b="1" spc="-40" dirty="0">
                <a:latin typeface="Arial"/>
                <a:cs typeface="Arial"/>
              </a:rPr>
              <a:t> </a:t>
            </a:r>
            <a:r>
              <a:rPr sz="1300" b="1" dirty="0">
                <a:latin typeface="Arial"/>
                <a:cs typeface="Arial"/>
              </a:rPr>
              <a:t>учреждение</a:t>
            </a:r>
            <a:r>
              <a:rPr sz="1300" b="1" spc="-35" dirty="0">
                <a:latin typeface="Arial"/>
                <a:cs typeface="Arial"/>
              </a:rPr>
              <a:t> </a:t>
            </a:r>
            <a:r>
              <a:rPr sz="1300" b="1" dirty="0">
                <a:latin typeface="Arial"/>
                <a:cs typeface="Arial"/>
              </a:rPr>
              <a:t>высшего</a:t>
            </a:r>
            <a:r>
              <a:rPr sz="1300" b="1" spc="-55" dirty="0">
                <a:latin typeface="Arial"/>
                <a:cs typeface="Arial"/>
              </a:rPr>
              <a:t> </a:t>
            </a:r>
            <a:r>
              <a:rPr sz="1300" b="1" spc="-10" dirty="0">
                <a:latin typeface="Arial"/>
                <a:cs typeface="Arial"/>
              </a:rPr>
              <a:t>образования</a:t>
            </a:r>
            <a:endParaRPr sz="1300">
              <a:latin typeface="Arial"/>
              <a:cs typeface="Arial"/>
            </a:endParaRPr>
          </a:p>
          <a:p>
            <a:pPr marL="46355" algn="ctr">
              <a:lnSpc>
                <a:spcPct val="100000"/>
              </a:lnSpc>
            </a:pPr>
            <a:r>
              <a:rPr sz="1300" b="1" dirty="0">
                <a:latin typeface="Arial"/>
                <a:cs typeface="Arial"/>
              </a:rPr>
              <a:t>«Национальный</a:t>
            </a:r>
            <a:r>
              <a:rPr sz="1300" b="1" spc="-20" dirty="0">
                <a:latin typeface="Arial"/>
                <a:cs typeface="Arial"/>
              </a:rPr>
              <a:t> </a:t>
            </a:r>
            <a:r>
              <a:rPr sz="1300" b="1" spc="-10" dirty="0">
                <a:latin typeface="Arial"/>
                <a:cs typeface="Arial"/>
              </a:rPr>
              <a:t>исследовательский</a:t>
            </a:r>
            <a:r>
              <a:rPr sz="1300" b="1" spc="-20" dirty="0">
                <a:latin typeface="Arial"/>
                <a:cs typeface="Arial"/>
              </a:rPr>
              <a:t> </a:t>
            </a:r>
            <a:r>
              <a:rPr sz="1300" b="1" dirty="0">
                <a:latin typeface="Arial"/>
                <a:cs typeface="Arial"/>
              </a:rPr>
              <a:t>ядерный</a:t>
            </a:r>
            <a:r>
              <a:rPr sz="1300" b="1" spc="-30" dirty="0">
                <a:latin typeface="Arial"/>
                <a:cs typeface="Arial"/>
              </a:rPr>
              <a:t> </a:t>
            </a:r>
            <a:r>
              <a:rPr sz="1300" b="1" dirty="0">
                <a:latin typeface="Arial"/>
                <a:cs typeface="Arial"/>
              </a:rPr>
              <a:t>университет</a:t>
            </a:r>
            <a:r>
              <a:rPr sz="1300" b="1" spc="-15" dirty="0">
                <a:latin typeface="Arial"/>
                <a:cs typeface="Arial"/>
              </a:rPr>
              <a:t> </a:t>
            </a:r>
            <a:r>
              <a:rPr sz="1300" b="1" spc="-10" dirty="0">
                <a:latin typeface="Arial"/>
                <a:cs typeface="Arial"/>
              </a:rPr>
              <a:t>«МИФИ»</a:t>
            </a:r>
            <a:endParaRPr sz="13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439925" y="3526028"/>
            <a:ext cx="6228715" cy="968855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algn="ctr"/>
            <a:r>
              <a:rPr lang="ru-RU" sz="2000" dirty="0"/>
              <a:t>Разработка программной системы </a:t>
            </a:r>
            <a:r>
              <a:rPr lang="ru-RU" sz="2000" dirty="0" err="1"/>
              <a:t>ребалансировки</a:t>
            </a:r>
            <a:r>
              <a:rPr lang="ru-RU" sz="2000" dirty="0"/>
              <a:t> портфеля ценных бумаг на основе технических индикаторов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6701790" y="4628515"/>
            <a:ext cx="1521948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ru-RU" sz="1600" dirty="0"/>
              <a:t>Ковальский И</a:t>
            </a:r>
            <a:r>
              <a:rPr lang="en-US" sz="1600" dirty="0"/>
              <a:t>.</a:t>
            </a:r>
            <a:r>
              <a:rPr lang="ru-RU" sz="1600" dirty="0"/>
              <a:t> В</a:t>
            </a:r>
            <a:r>
              <a:rPr lang="en-US" sz="1600" dirty="0"/>
              <a:t>.</a:t>
            </a:r>
            <a:endParaRPr lang="ru-RU" sz="1600" dirty="0"/>
          </a:p>
        </p:txBody>
      </p:sp>
      <p:sp>
        <p:nvSpPr>
          <p:cNvPr id="23" name="object 23"/>
          <p:cNvSpPr txBox="1"/>
          <p:nvPr/>
        </p:nvSpPr>
        <p:spPr>
          <a:xfrm>
            <a:off x="6701790" y="4966842"/>
            <a:ext cx="7086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Calibri"/>
                <a:cs typeface="Calibri"/>
              </a:rPr>
              <a:t>Б22-</a:t>
            </a:r>
            <a:r>
              <a:rPr sz="1600" spc="-25" dirty="0">
                <a:latin typeface="Calibri"/>
                <a:cs typeface="Calibri"/>
              </a:rPr>
              <a:t>514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696836" y="5384088"/>
            <a:ext cx="130810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ru-RU" sz="1600" dirty="0"/>
              <a:t>к.т.н., доцент</a:t>
            </a:r>
          </a:p>
          <a:p>
            <a:r>
              <a:rPr lang="ru-RU" sz="1600" dirty="0"/>
              <a:t>Трофимов А</a:t>
            </a:r>
            <a:r>
              <a:rPr lang="en-US" sz="1600" dirty="0"/>
              <a:t>.</a:t>
            </a:r>
            <a:r>
              <a:rPr lang="ru-RU" sz="1600" dirty="0"/>
              <a:t> Г</a:t>
            </a:r>
            <a:r>
              <a:rPr lang="en-US" sz="1600" dirty="0"/>
              <a:t>.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304157" y="2078863"/>
            <a:ext cx="266001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dirty="0">
                <a:latin typeface="Arial"/>
                <a:cs typeface="Arial"/>
              </a:rPr>
              <a:t>09.03.04</a:t>
            </a:r>
            <a:r>
              <a:rPr sz="1100" b="1" spc="-50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ПРОГРАММНАЯ</a:t>
            </a:r>
            <a:r>
              <a:rPr sz="1100" b="1" spc="2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ИНЖЕНЕРИЯ</a:t>
            </a:r>
            <a:endParaRPr sz="110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752600" y="2869692"/>
            <a:ext cx="5689600" cy="553720"/>
          </a:xfrm>
          <a:custGeom>
            <a:avLst/>
            <a:gdLst/>
            <a:ahLst/>
            <a:cxnLst/>
            <a:rect l="l" t="t" r="r" b="b"/>
            <a:pathLst>
              <a:path w="5689600" h="553720">
                <a:moveTo>
                  <a:pt x="5689092" y="0"/>
                </a:moveTo>
                <a:lnTo>
                  <a:pt x="0" y="0"/>
                </a:lnTo>
                <a:lnTo>
                  <a:pt x="0" y="553212"/>
                </a:lnTo>
                <a:lnTo>
                  <a:pt x="5689092" y="553212"/>
                </a:lnTo>
                <a:lnTo>
                  <a:pt x="568909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2430017" y="2981959"/>
            <a:ext cx="43370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Учебно-</a:t>
            </a:r>
            <a:r>
              <a:rPr sz="1800" b="1" dirty="0">
                <a:latin typeface="Calibri"/>
                <a:cs typeface="Calibri"/>
              </a:rPr>
              <a:t>исследовательская</a:t>
            </a:r>
            <a:r>
              <a:rPr sz="1800" b="1" spc="-5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работа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на</a:t>
            </a:r>
            <a:r>
              <a:rPr sz="1800" b="1" spc="-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тему: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3439667" y="5903976"/>
            <a:ext cx="2265045" cy="615950"/>
          </a:xfrm>
          <a:custGeom>
            <a:avLst/>
            <a:gdLst/>
            <a:ahLst/>
            <a:cxnLst/>
            <a:rect l="l" t="t" r="r" b="b"/>
            <a:pathLst>
              <a:path w="2265045" h="615950">
                <a:moveTo>
                  <a:pt x="2264664" y="0"/>
                </a:moveTo>
                <a:lnTo>
                  <a:pt x="0" y="0"/>
                </a:lnTo>
                <a:lnTo>
                  <a:pt x="0" y="615696"/>
                </a:lnTo>
                <a:lnTo>
                  <a:pt x="2264664" y="615696"/>
                </a:lnTo>
                <a:lnTo>
                  <a:pt x="226466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3894582" y="6048247"/>
            <a:ext cx="13563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Москва,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spc="-20" dirty="0" smtClean="0">
                <a:latin typeface="Calibri"/>
                <a:cs typeface="Calibri"/>
              </a:rPr>
              <a:t>202</a:t>
            </a:r>
            <a:r>
              <a:rPr lang="ru-RU" sz="1800" b="1" spc="-20" dirty="0" smtClean="0">
                <a:latin typeface="Calibri"/>
                <a:cs typeface="Calibri"/>
              </a:rPr>
              <a:t>6</a:t>
            </a:r>
            <a:endParaRPr sz="18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203277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202C55-90FC-4F03-9B69-0EB833983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Реферат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B86C53B-B465-4F3B-B49B-55327FED70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803032"/>
            <a:ext cx="7886700" cy="5373936"/>
          </a:xfrm>
        </p:spPr>
        <p:txBody>
          <a:bodyPr>
            <a:noAutofit/>
          </a:bodyPr>
          <a:lstStyle/>
          <a:p>
            <a:pPr marL="0" indent="0" fontAlgn="t">
              <a:buNone/>
            </a:pPr>
            <a:r>
              <a:rPr lang="ru-RU" sz="2000" dirty="0"/>
              <a:t>Пояснительная записка содержит </a:t>
            </a:r>
            <a:r>
              <a:rPr lang="ru-RU" sz="2000" dirty="0" smtClean="0"/>
              <a:t>80 </a:t>
            </a:r>
            <a:r>
              <a:rPr lang="ru-RU" sz="2000" dirty="0"/>
              <a:t>страниц. Количество источников – </a:t>
            </a:r>
            <a:r>
              <a:rPr lang="ru-RU" sz="2000" dirty="0" smtClean="0"/>
              <a:t>29. </a:t>
            </a:r>
            <a:r>
              <a:rPr lang="ru-RU" sz="2000" dirty="0"/>
              <a:t>Количество рисунков – </a:t>
            </a:r>
            <a:r>
              <a:rPr lang="ru-RU" sz="2000" dirty="0" smtClean="0"/>
              <a:t>20. </a:t>
            </a:r>
            <a:r>
              <a:rPr lang="ru-RU" sz="2000" dirty="0"/>
              <a:t>Количество таблиц – </a:t>
            </a:r>
            <a:r>
              <a:rPr lang="ru-RU" sz="2000" dirty="0" smtClean="0"/>
              <a:t>2. </a:t>
            </a:r>
            <a:r>
              <a:rPr lang="ru-RU" sz="2000" dirty="0"/>
              <a:t>Количество приложений – </a:t>
            </a:r>
            <a:r>
              <a:rPr lang="ru-RU" sz="2000" dirty="0" smtClean="0"/>
              <a:t>1.</a:t>
            </a:r>
          </a:p>
          <a:p>
            <a:pPr marL="0" indent="0" fontAlgn="t">
              <a:buNone/>
            </a:pPr>
            <a:endParaRPr lang="ru-RU" sz="2000" dirty="0" smtClean="0"/>
          </a:p>
          <a:p>
            <a:pPr marL="0" indent="0" fontAlgn="t">
              <a:buNone/>
            </a:pPr>
            <a:endParaRPr lang="ru-RU" sz="2000" dirty="0"/>
          </a:p>
          <a:p>
            <a:pPr marL="0" indent="0" fontAlgn="t">
              <a:buNone/>
            </a:pPr>
            <a:r>
              <a:rPr lang="ru-RU" sz="2000" dirty="0"/>
              <a:t>Ключевые слова: </a:t>
            </a:r>
            <a:r>
              <a:rPr lang="ru-RU" sz="2000" dirty="0" err="1"/>
              <a:t>ребалансировка</a:t>
            </a:r>
            <a:r>
              <a:rPr lang="ru-RU" sz="2000" dirty="0"/>
              <a:t> портфеля, технические индикаторы, финансовые временные ряды, алгоритмическая торговля, </a:t>
            </a:r>
            <a:r>
              <a:rPr lang="ru-RU" sz="2000" dirty="0" err="1"/>
              <a:t>бэктестинг</a:t>
            </a:r>
            <a:r>
              <a:rPr lang="ru-RU" sz="2000" dirty="0"/>
              <a:t>, многокритериальная оптимизация, генетический алгоритм, диверсификация, риск-метрики.</a:t>
            </a:r>
            <a:endParaRPr lang="ru-RU" sz="2000" dirty="0" smtClean="0"/>
          </a:p>
          <a:p>
            <a:pPr marL="0" indent="0" fontAlgn="t">
              <a:buNone/>
            </a:pPr>
            <a:r>
              <a:rPr lang="ru-RU" sz="2000" dirty="0" smtClean="0"/>
              <a:t/>
            </a:r>
            <a:br>
              <a:rPr lang="ru-RU" sz="2000" dirty="0" smtClean="0"/>
            </a:br>
            <a:endParaRPr lang="ru-RU" sz="2000" dirty="0"/>
          </a:p>
          <a:p>
            <a:pPr marL="0" indent="0" fontAlgn="t">
              <a:buNone/>
            </a:pPr>
            <a:r>
              <a:rPr lang="ru-RU" sz="2000" dirty="0"/>
              <a:t>Целью данной работы является </a:t>
            </a:r>
            <a:r>
              <a:rPr lang="ru-RU" sz="2000" dirty="0"/>
              <a:t>разработка программной системы </a:t>
            </a:r>
            <a:r>
              <a:rPr lang="ru-RU" sz="2000" dirty="0" err="1"/>
              <a:t>ребалансировки</a:t>
            </a:r>
            <a:r>
              <a:rPr lang="ru-RU" sz="2000" dirty="0"/>
              <a:t> портфеля ценных бумаг на основе технических индикаторов и многокритериальной оптимизации (с последующей экспериментальной оценкой её эффективности на исторических данных).</a:t>
            </a:r>
            <a:endParaRPr lang="ru-RU" sz="20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481C50F-E29F-4C4B-B814-44C06F435D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4882390-5E8C-4CFA-AF90-B2445B96FD8B}" type="slidenum">
              <a:rPr lang="ru-RU" smtClean="0"/>
              <a:pPr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907354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396CDE-446F-4C6B-9F34-DB35333EE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sz="2800" dirty="0"/>
              <a:t>Актуальность работы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97D350E-1B79-49AD-B3E8-A1014B661C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2400" b="1" dirty="0" smtClean="0">
                <a:latin typeface="Arial" panose="020B0604020202020204" pitchFamily="34" charset="0"/>
              </a:rPr>
              <a:t> </a:t>
            </a:r>
            <a:r>
              <a:rPr lang="ru-RU" sz="2400" dirty="0"/>
              <a:t>Рынок ценных бумаг </a:t>
            </a:r>
            <a:r>
              <a:rPr lang="ru-RU" sz="2400" b="1" dirty="0" err="1"/>
              <a:t>высокодинамичен</a:t>
            </a:r>
            <a:r>
              <a:rPr lang="ru-RU" sz="2400" dirty="0"/>
              <a:t>: цены меняются из-за новостей, </a:t>
            </a:r>
            <a:r>
              <a:rPr lang="ru-RU" sz="2400" dirty="0" err="1" smtClean="0"/>
              <a:t>макрофакторов</a:t>
            </a:r>
            <a:r>
              <a:rPr lang="en-US" sz="2400" dirty="0" smtClean="0"/>
              <a:t>, </a:t>
            </a:r>
            <a:r>
              <a:rPr lang="ru-RU" sz="2400" dirty="0" smtClean="0"/>
              <a:t>смены трендов и т. д</a:t>
            </a:r>
            <a:r>
              <a:rPr lang="en-US" sz="2400" dirty="0"/>
              <a:t>.</a:t>
            </a:r>
            <a:endParaRPr lang="en-US" altLang="ru-RU" sz="2400" dirty="0" smtClean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ru-RU" sz="2400" dirty="0" smtClean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ru-RU" altLang="ru-RU" sz="24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2400" b="1" dirty="0" smtClean="0">
                <a:latin typeface="Arial" panose="020B0604020202020204" pitchFamily="34" charset="0"/>
              </a:rPr>
              <a:t> </a:t>
            </a:r>
            <a:r>
              <a:rPr lang="ru-RU" sz="2400" b="1" dirty="0"/>
              <a:t>Решение всегда про компромисс</a:t>
            </a:r>
            <a:r>
              <a:rPr lang="ru-RU" sz="2400" dirty="0"/>
              <a:t>: хочется больше доходности, но меньше просадки; хочется диверсификации, но без лишних сделок и </a:t>
            </a:r>
            <a:r>
              <a:rPr lang="ru-RU" sz="2400" dirty="0" smtClean="0"/>
              <a:t>комиссий</a:t>
            </a:r>
            <a:r>
              <a:rPr lang="en-US" sz="2400" dirty="0" smtClean="0"/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ru-RU" sz="2400" dirty="0" smtClean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ru-RU" sz="24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ru-RU" altLang="ru-RU" sz="24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2400" dirty="0" smtClean="0">
                <a:latin typeface="Arial" panose="020B0604020202020204" pitchFamily="34" charset="0"/>
              </a:rPr>
              <a:t> </a:t>
            </a:r>
            <a:r>
              <a:rPr lang="ru-RU" sz="2400" b="1" dirty="0"/>
              <a:t>Готовые профессиональные платформы дорогие и закрытые</a:t>
            </a:r>
            <a:r>
              <a:rPr lang="ru-RU" sz="2400" dirty="0"/>
              <a:t>, а для учебных/исследовательских задач нужен прозрачный инструмент, где видно логику расчётов и можно менять критерии и ограничения.</a:t>
            </a:r>
            <a:endParaRPr lang="ru-RU" altLang="ru-RU" sz="2400" dirty="0">
              <a:latin typeface="Arial" panose="020B0604020202020204" pitchFamily="34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7821C45-0672-4067-B020-45CF2AE6E6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4882390-5E8C-4CFA-AF90-B2445B96FD8B}" type="slidenum">
              <a:rPr lang="ru-RU" smtClean="0"/>
              <a:pPr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038569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BFB7A8-1E1A-4244-806F-8D6E13DF6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Цели УИР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CEAFB75-0049-4183-BEAC-8310220516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3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600" dirty="0">
                <a:latin typeface="Arial" panose="020B0604020202020204" pitchFamily="34" charset="0"/>
                <a:cs typeface="Arial" panose="020B0604020202020204" pitchFamily="34" charset="0"/>
              </a:rPr>
              <a:t>Разработать прототип программной системы </a:t>
            </a:r>
            <a:r>
              <a:rPr lang="ru-RU" sz="2600" b="1" dirty="0" err="1">
                <a:latin typeface="Arial" panose="020B0604020202020204" pitchFamily="34" charset="0"/>
                <a:cs typeface="Arial" panose="020B0604020202020204" pitchFamily="34" charset="0"/>
              </a:rPr>
              <a:t>ребалансировки</a:t>
            </a:r>
            <a:r>
              <a:rPr lang="ru-RU" sz="2600" b="1" dirty="0">
                <a:latin typeface="Arial" panose="020B0604020202020204" pitchFamily="34" charset="0"/>
                <a:cs typeface="Arial" panose="020B0604020202020204" pitchFamily="34" charset="0"/>
              </a:rPr>
              <a:t> портфеля ценных бумаг</a:t>
            </a:r>
            <a:r>
              <a:rPr lang="ru-RU" sz="2600" dirty="0">
                <a:latin typeface="Arial" panose="020B0604020202020204" pitchFamily="34" charset="0"/>
                <a:cs typeface="Arial" panose="020B0604020202020204" pitchFamily="34" charset="0"/>
              </a:rPr>
              <a:t> на основе технических индикаторов и многокритериальной оптимизации.</a:t>
            </a:r>
            <a:r>
              <a:rPr lang="ru-RU" altLang="ru-RU" sz="2600" dirty="0">
                <a:latin typeface="Arial" panose="020B0604020202020204" pitchFamily="34" charset="0"/>
                <a:cs typeface="Arial" panose="020B0604020202020204" pitchFamily="34" charset="0"/>
              </a:rPr>
              <a:t> </a:t>
            </a:r>
            <a:endParaRPr lang="en-US" altLang="ru-RU" sz="2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ru-RU" sz="2600" dirty="0" smtClean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ru-RU" altLang="ru-RU" sz="26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2600" dirty="0" smtClean="0">
                <a:latin typeface="Arial" panose="020B0604020202020204" pitchFamily="34" charset="0"/>
              </a:rPr>
              <a:t> </a:t>
            </a:r>
            <a:r>
              <a:rPr lang="ru-RU" sz="2600" dirty="0">
                <a:latin typeface="Arial" panose="020B0604020202020204" pitchFamily="34" charset="0"/>
                <a:cs typeface="Arial" panose="020B0604020202020204" pitchFamily="34" charset="0"/>
              </a:rPr>
              <a:t>Обеспечить </a:t>
            </a:r>
            <a:r>
              <a:rPr lang="ru-RU" sz="2600" b="1" dirty="0">
                <a:latin typeface="Arial" panose="020B0604020202020204" pitchFamily="34" charset="0"/>
                <a:cs typeface="Arial" panose="020B0604020202020204" pitchFamily="34" charset="0"/>
              </a:rPr>
              <a:t>рост качества портфеля</a:t>
            </a:r>
            <a:r>
              <a:rPr lang="ru-RU" sz="2600" dirty="0">
                <a:latin typeface="Arial" panose="020B0604020202020204" pitchFamily="34" charset="0"/>
                <a:cs typeface="Arial" panose="020B0604020202020204" pitchFamily="34" charset="0"/>
              </a:rPr>
              <a:t>: повысить доходность при контроле риска (волатильность/максимальная просадка) и ограничить концентрацию в отдельных активах.</a:t>
            </a:r>
            <a:endParaRPr lang="en-US" altLang="ru-RU"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ru-RU" altLang="ru-RU" sz="26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2600" dirty="0" smtClean="0">
                <a:latin typeface="Arial" panose="020B0604020202020204" pitchFamily="34" charset="0"/>
              </a:rPr>
              <a:t> Обеспечить </a:t>
            </a:r>
            <a:r>
              <a:rPr lang="ru-RU" altLang="ru-RU" sz="2600" dirty="0" err="1">
                <a:latin typeface="Arial" panose="020B0604020202020204" pitchFamily="34" charset="0"/>
              </a:rPr>
              <a:t>воспроизводимость</a:t>
            </a:r>
            <a:r>
              <a:rPr lang="ru-RU" altLang="ru-RU" sz="2600" dirty="0">
                <a:latin typeface="Arial" panose="020B0604020202020204" pitchFamily="34" charset="0"/>
              </a:rPr>
              <a:t> результатов и открытый стек технологий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09E31F2-6CA6-4B6F-B7C2-671F4B6315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4882390-5E8C-4CFA-AF90-B2445B96FD8B}" type="slidenum">
              <a:rPr lang="ru-RU" smtClean="0"/>
              <a:pPr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682031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Результаты анализа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4882390-5E8C-4CFA-AF90-B2445B96FD8B}" type="slidenum">
              <a:rPr lang="ru-RU" smtClean="0"/>
              <a:pPr/>
              <a:t>5</a:t>
            </a:fld>
            <a:endParaRPr lang="ru-RU" dirty="0"/>
          </a:p>
        </p:txBody>
      </p:sp>
      <p:pic>
        <p:nvPicPr>
          <p:cNvPr id="7" name="Рисунок 6"/>
          <p:cNvPicPr/>
          <p:nvPr/>
        </p:nvPicPr>
        <p:blipFill>
          <a:blip r:embed="rId2"/>
          <a:stretch>
            <a:fillRect/>
          </a:stretch>
        </p:blipFill>
        <p:spPr>
          <a:xfrm>
            <a:off x="1603596" y="885092"/>
            <a:ext cx="5664712" cy="5235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2478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Результаты анализа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4882390-5E8C-4CFA-AF90-B2445B96FD8B}" type="slidenum">
              <a:rPr lang="ru-RU" smtClean="0"/>
              <a:pPr/>
              <a:t>6</a:t>
            </a:fld>
            <a:endParaRPr lang="ru-RU" dirty="0"/>
          </a:p>
        </p:txBody>
      </p:sp>
      <p:pic>
        <p:nvPicPr>
          <p:cNvPr id="9" name="Рисунок 8"/>
          <p:cNvPicPr/>
          <p:nvPr/>
        </p:nvPicPr>
        <p:blipFill>
          <a:blip r:embed="rId2"/>
          <a:stretch>
            <a:fillRect/>
          </a:stretch>
        </p:blipFill>
        <p:spPr>
          <a:xfrm>
            <a:off x="1758462" y="847651"/>
            <a:ext cx="6010201" cy="2241380"/>
          </a:xfrm>
          <a:prstGeom prst="rect">
            <a:avLst/>
          </a:prstGeom>
        </p:spPr>
      </p:pic>
      <p:pic>
        <p:nvPicPr>
          <p:cNvPr id="10" name="Рисунок 9"/>
          <p:cNvPicPr/>
          <p:nvPr/>
        </p:nvPicPr>
        <p:blipFill>
          <a:blip r:embed="rId3"/>
          <a:stretch>
            <a:fillRect/>
          </a:stretch>
        </p:blipFill>
        <p:spPr>
          <a:xfrm>
            <a:off x="720606" y="3213575"/>
            <a:ext cx="3877676" cy="2779846"/>
          </a:xfrm>
          <a:prstGeom prst="rect">
            <a:avLst/>
          </a:prstGeom>
        </p:spPr>
      </p:pic>
      <p:pic>
        <p:nvPicPr>
          <p:cNvPr id="11" name="Рисунок 10"/>
          <p:cNvPicPr/>
          <p:nvPr/>
        </p:nvPicPr>
        <p:blipFill>
          <a:blip r:embed="rId4"/>
          <a:stretch>
            <a:fillRect/>
          </a:stretch>
        </p:blipFill>
        <p:spPr>
          <a:xfrm>
            <a:off x="4470485" y="3213575"/>
            <a:ext cx="4254206" cy="2944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9562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8C1D19-330B-4CC1-918D-EC866EC4D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Задачи </a:t>
            </a:r>
            <a:r>
              <a:rPr lang="ru-RU" dirty="0" smtClean="0"/>
              <a:t>УИР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F2DC5C4-F706-4886-AF63-489979282A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Подготовить </a:t>
            </a: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данные: загрузка OHLCV, очистка, расчёт индикаторов и </a:t>
            </a:r>
            <a:r>
              <a:rPr lang="ru-RU" sz="3200" b="1" dirty="0">
                <a:latin typeface="Arial" panose="020B0604020202020204" pitchFamily="34" charset="0"/>
                <a:cs typeface="Arial" panose="020B0604020202020204" pitchFamily="34" charset="0"/>
              </a:rPr>
              <a:t>нормализация признаков</a:t>
            </a: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ru-RU" altLang="ru-RU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Разработать модель оценки активов: настроить </a:t>
            </a:r>
            <a:r>
              <a:rPr lang="ru-RU" sz="3200" b="1" dirty="0">
                <a:latin typeface="Arial" panose="020B0604020202020204" pitchFamily="34" charset="0"/>
                <a:cs typeface="Arial" panose="020B0604020202020204" pitchFamily="34" charset="0"/>
              </a:rPr>
              <a:t>веса/параметры индикаторов</a:t>
            </a: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 и получить скор (оценку привлекательности) для каждого актива.</a:t>
            </a:r>
            <a:endParaRPr lang="ru-RU" altLang="ru-RU" sz="3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ru-RU" altLang="ru-RU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Сформулировать задачу </a:t>
            </a:r>
            <a:r>
              <a:rPr lang="ru-RU" sz="3200" b="1" dirty="0">
                <a:latin typeface="Arial" panose="020B0604020202020204" pitchFamily="34" charset="0"/>
                <a:cs typeface="Arial" panose="020B0604020202020204" pitchFamily="34" charset="0"/>
              </a:rPr>
              <a:t>многокритериальной оптимизации</a:t>
            </a: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 портфеля (доходность/риск/диверсификация/оборот) и ограничения (лимиты долей, число активов, комиссия).</a:t>
            </a:r>
            <a:endParaRPr lang="ru-RU" altLang="ru-RU" sz="3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ru-RU" altLang="ru-RU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altLang="ru-RU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Спроектировать архитектуру и GUI-интерфейс прототипа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ru-RU" altLang="ru-RU" sz="3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ru-RU" altLang="ru-RU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 Провести </a:t>
            </a:r>
            <a:r>
              <a:rPr lang="ru-RU" altLang="ru-RU" sz="3200" dirty="0" err="1">
                <a:latin typeface="Arial" panose="020B0604020202020204" pitchFamily="34" charset="0"/>
                <a:cs typeface="Arial" panose="020B0604020202020204" pitchFamily="34" charset="0"/>
              </a:rPr>
              <a:t>бэктестинг</a:t>
            </a:r>
            <a:r>
              <a:rPr lang="ru-RU" altLang="ru-RU" sz="3200" dirty="0">
                <a:latin typeface="Arial" panose="020B0604020202020204" pitchFamily="34" charset="0"/>
                <a:cs typeface="Arial" panose="020B0604020202020204" pitchFamily="34" charset="0"/>
              </a:rPr>
              <a:t> на исторических </a:t>
            </a:r>
            <a:r>
              <a:rPr lang="ru-RU" altLang="ru-RU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данных</a:t>
            </a:r>
            <a:r>
              <a:rPr lang="en-US" altLang="ru-RU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посчитать метрики (CAGR, </a:t>
            </a:r>
            <a:r>
              <a:rPr lang="ru-RU" sz="3200" dirty="0" err="1">
                <a:latin typeface="Arial" panose="020B0604020202020204" pitchFamily="34" charset="0"/>
                <a:cs typeface="Arial" panose="020B0604020202020204" pitchFamily="34" charset="0"/>
              </a:rPr>
              <a:t>Sharpe</a:t>
            </a: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sz="3200" dirty="0" err="1">
                <a:latin typeface="Arial" panose="020B0604020202020204" pitchFamily="34" charset="0"/>
                <a:cs typeface="Arial" panose="020B0604020202020204" pitchFamily="34" charset="0"/>
              </a:rPr>
              <a:t>max</a:t>
            </a: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3200" dirty="0" err="1">
                <a:latin typeface="Arial" panose="020B0604020202020204" pitchFamily="34" charset="0"/>
                <a:cs typeface="Arial" panose="020B0604020202020204" pitchFamily="34" charset="0"/>
              </a:rPr>
              <a:t>drawdown</a:t>
            </a: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 и др.) и сравнить с </a:t>
            </a:r>
            <a:r>
              <a:rPr lang="ru-RU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базовой стратегией</a:t>
            </a: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ru-RU" altLang="ru-RU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7FA2337-0BE5-47EC-8352-79BCEE0DAE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4882390-5E8C-4CFA-AF90-B2445B96FD8B}" type="slidenum">
              <a:rPr lang="ru-RU" smtClean="0"/>
              <a:pPr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25865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Результаты </a:t>
            </a:r>
            <a:r>
              <a:rPr lang="ru-RU" dirty="0" smtClean="0"/>
              <a:t>Разработки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4882390-5E8C-4CFA-AF90-B2445B96FD8B}" type="slidenum">
              <a:rPr lang="ru-RU" smtClean="0"/>
              <a:pPr/>
              <a:t>8</a:t>
            </a:fld>
            <a:endParaRPr lang="ru-RU" dirty="0"/>
          </a:p>
        </p:txBody>
      </p:sp>
      <p:pic>
        <p:nvPicPr>
          <p:cNvPr id="6" name="Рисунок 5"/>
          <p:cNvPicPr/>
          <p:nvPr/>
        </p:nvPicPr>
        <p:blipFill>
          <a:blip r:embed="rId2"/>
          <a:stretch>
            <a:fillRect/>
          </a:stretch>
        </p:blipFill>
        <p:spPr>
          <a:xfrm>
            <a:off x="3135828" y="848721"/>
            <a:ext cx="2924908" cy="5617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1258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DA2664-D692-4762-9A26-60AA777F3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Результаты моделирования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C84937D-9D75-4E06-A537-436E4EC186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4882390-5E8C-4CFA-AF90-B2445B96FD8B}" type="slidenum">
              <a:rPr lang="ru-RU" smtClean="0"/>
              <a:pPr/>
              <a:t>9</a:t>
            </a:fld>
            <a:endParaRPr lang="ru-RU" dirty="0"/>
          </a:p>
        </p:txBody>
      </p:sp>
      <p:pic>
        <p:nvPicPr>
          <p:cNvPr id="5" name="Рисунок 4"/>
          <p:cNvPicPr/>
          <p:nvPr/>
        </p:nvPicPr>
        <p:blipFill>
          <a:blip r:embed="rId2"/>
          <a:stretch>
            <a:fillRect/>
          </a:stretch>
        </p:blipFill>
        <p:spPr>
          <a:xfrm>
            <a:off x="902677" y="834477"/>
            <a:ext cx="7538845" cy="5431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2459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Список требований к программной системе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31132" y="925880"/>
            <a:ext cx="3911600" cy="5251085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ru-RU" sz="8000" dirty="0" smtClean="0"/>
              <a:t>Функциональные</a:t>
            </a:r>
            <a:r>
              <a:rPr lang="en-US" sz="8000" dirty="0" smtClean="0"/>
              <a:t>:</a:t>
            </a:r>
            <a:endParaRPr lang="ru-RU" sz="8000" dirty="0" smtClean="0"/>
          </a:p>
          <a:p>
            <a:pPr marL="0" indent="0">
              <a:buNone/>
            </a:pPr>
            <a:endParaRPr lang="en-US" dirty="0" smtClean="0">
              <a:solidFill>
                <a:srgbClr val="92D050"/>
              </a:solidFill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6200" dirty="0" smtClean="0">
                <a:latin typeface="Arial" panose="020B0604020202020204" pitchFamily="34" charset="0"/>
                <a:cs typeface="Arial" panose="020B0604020202020204" pitchFamily="34" charset="0"/>
              </a:rPr>
              <a:t> CSV-импорт</a:t>
            </a:r>
            <a:endParaRPr lang="en-US" altLang="ru-RU" sz="6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ru-RU" altLang="ru-RU" sz="6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6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6200" dirty="0">
                <a:latin typeface="Arial" panose="020B0604020202020204" pitchFamily="34" charset="0"/>
                <a:cs typeface="Arial" panose="020B0604020202020204" pitchFamily="34" charset="0"/>
              </a:rPr>
              <a:t>Расчёт технических индикаторов и нормализация </a:t>
            </a:r>
            <a:r>
              <a:rPr lang="ru-RU" sz="6200" dirty="0" smtClean="0">
                <a:latin typeface="Arial" panose="020B0604020202020204" pitchFamily="34" charset="0"/>
                <a:cs typeface="Arial" panose="020B0604020202020204" pitchFamily="34" charset="0"/>
              </a:rPr>
              <a:t>признаков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ru-RU" altLang="ru-RU" sz="6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6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6200" dirty="0" err="1">
                <a:latin typeface="Arial" panose="020B0604020202020204" pitchFamily="34" charset="0"/>
                <a:cs typeface="Arial" panose="020B0604020202020204" pitchFamily="34" charset="0"/>
              </a:rPr>
              <a:t>Ребалансировка</a:t>
            </a:r>
            <a:r>
              <a:rPr lang="ru-RU" sz="6200" dirty="0">
                <a:latin typeface="Arial" panose="020B0604020202020204" pitchFamily="34" charset="0"/>
                <a:cs typeface="Arial" panose="020B0604020202020204" pitchFamily="34" charset="0"/>
              </a:rPr>
              <a:t> портфеля по заданной частоте с учётом ограничений (лимиты долей, число активов и т.п.)</a:t>
            </a:r>
            <a:endParaRPr lang="ru-RU" altLang="ru-RU" sz="6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ru-RU" altLang="ru-RU" sz="6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6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6200" dirty="0">
                <a:latin typeface="Arial" panose="020B0604020202020204" pitchFamily="34" charset="0"/>
                <a:cs typeface="Arial" panose="020B0604020202020204" pitchFamily="34" charset="0"/>
              </a:rPr>
              <a:t>Учёт транзакционных издержек (комиссии / оборот</a:t>
            </a:r>
            <a:r>
              <a:rPr lang="ru-RU" sz="6200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ru-RU" altLang="ru-RU" sz="6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6200" dirty="0" smtClean="0">
                <a:latin typeface="Arial" panose="020B0604020202020204" pitchFamily="34" charset="0"/>
                <a:cs typeface="Arial" panose="020B0604020202020204" pitchFamily="34" charset="0"/>
              </a:rPr>
              <a:t> Отображение метрик </a:t>
            </a:r>
            <a:r>
              <a:rPr lang="ru-RU" altLang="ru-RU" sz="6200" dirty="0" smtClean="0">
                <a:latin typeface="Arial" panose="020B0604020202020204" pitchFamily="34" charset="0"/>
                <a:cs typeface="Arial" panose="020B0604020202020204" pitchFamily="34" charset="0"/>
              </a:rPr>
              <a:t>результата</a:t>
            </a:r>
            <a:r>
              <a:rPr lang="en-US" altLang="ru-RU" sz="6200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altLang="ru-RU" sz="6200" dirty="0" smtClean="0">
                <a:latin typeface="Arial" panose="020B0604020202020204" pitchFamily="34" charset="0"/>
                <a:cs typeface="Arial" panose="020B0604020202020204" pitchFamily="34" charset="0"/>
              </a:rPr>
              <a:t>графика доходности</a:t>
            </a:r>
            <a:endParaRPr lang="ru-RU" altLang="ru-RU" sz="6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92D050"/>
                </a:solidFill>
              </a:rPr>
              <a:t/>
            </a:r>
            <a:br>
              <a:rPr lang="en-US" dirty="0" smtClean="0">
                <a:solidFill>
                  <a:srgbClr val="92D050"/>
                </a:solidFill>
              </a:rPr>
            </a:br>
            <a:r>
              <a:rPr lang="en-US" dirty="0" smtClean="0">
                <a:solidFill>
                  <a:srgbClr val="92D050"/>
                </a:solidFill>
              </a:rPr>
              <a:t/>
            </a:r>
            <a:br>
              <a:rPr lang="en-US" dirty="0" smtClean="0">
                <a:solidFill>
                  <a:srgbClr val="92D050"/>
                </a:solidFill>
              </a:rPr>
            </a:br>
            <a:endParaRPr lang="ru-RU" dirty="0">
              <a:solidFill>
                <a:srgbClr val="92D050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4882390-5E8C-4CFA-AF90-B2445B96FD8B}" type="slidenum">
              <a:rPr lang="ru-RU" smtClean="0"/>
              <a:pPr/>
              <a:t>10</a:t>
            </a:fld>
            <a:endParaRPr lang="ru-RU" dirty="0"/>
          </a:p>
        </p:txBody>
      </p:sp>
      <p:sp>
        <p:nvSpPr>
          <p:cNvPr id="6" name="Объект 2"/>
          <p:cNvSpPr txBox="1">
            <a:spLocks/>
          </p:cNvSpPr>
          <p:nvPr/>
        </p:nvSpPr>
        <p:spPr>
          <a:xfrm>
            <a:off x="4921250" y="925879"/>
            <a:ext cx="4222750" cy="513202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dirty="0" smtClean="0"/>
              <a:t>Нефункциональные</a:t>
            </a:r>
            <a:r>
              <a:rPr lang="en-US" dirty="0" smtClean="0"/>
              <a:t>:</a:t>
            </a:r>
            <a:endParaRPr lang="ru-RU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ru-RU" sz="1100" dirty="0" smtClean="0">
              <a:solidFill>
                <a:srgbClr val="92D050"/>
              </a:solidFill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2400" dirty="0" smtClean="0">
                <a:latin typeface="Arial" panose="020B0604020202020204" pitchFamily="34" charset="0"/>
              </a:rPr>
              <a:t> </a:t>
            </a:r>
            <a:r>
              <a:rPr lang="ru-RU" sz="2200" dirty="0" err="1">
                <a:latin typeface="Arial" panose="020B0604020202020204" pitchFamily="34" charset="0"/>
                <a:cs typeface="Arial" panose="020B0604020202020204" pitchFamily="34" charset="0"/>
              </a:rPr>
              <a:t>Валидация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 входных данных и корректная обработка </a:t>
            </a:r>
            <a:r>
              <a:rPr lang="ru-RU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ошибок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ru-RU" altLang="ru-RU" sz="22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2200" dirty="0" smtClean="0">
                <a:latin typeface="Arial" panose="020B0604020202020204" pitchFamily="34" charset="0"/>
              </a:rPr>
              <a:t> 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Производительность: приемлемое время расчёта на больших </a:t>
            </a:r>
            <a:r>
              <a:rPr lang="ru-RU" sz="2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датасетах</a:t>
            </a:r>
            <a:r>
              <a:rPr lang="ru-RU" sz="2200" dirty="0" smtClean="0"/>
              <a:t/>
            </a:r>
            <a:br>
              <a:rPr lang="ru-RU" sz="2200" dirty="0" smtClean="0"/>
            </a:br>
            <a:endParaRPr lang="ru-RU" altLang="ru-RU" sz="2200" dirty="0" smtClean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2200" dirty="0" smtClean="0">
                <a:latin typeface="Arial" panose="020B0604020202020204" pitchFamily="34" charset="0"/>
              </a:rPr>
              <a:t> </a:t>
            </a:r>
            <a:r>
              <a:rPr lang="ru-RU" altLang="ru-RU" sz="2200" dirty="0" err="1" smtClean="0">
                <a:latin typeface="Arial" panose="020B0604020202020204" pitchFamily="34" charset="0"/>
              </a:rPr>
              <a:t>Воспроизводимость</a:t>
            </a:r>
            <a:r>
              <a:rPr lang="ru-RU" altLang="ru-RU" sz="2200" dirty="0" smtClean="0">
                <a:latin typeface="Arial" panose="020B0604020202020204" pitchFamily="34" charset="0"/>
              </a:rPr>
              <a:t> результатов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ru-RU" altLang="ru-RU" sz="22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2200" dirty="0" smtClean="0">
                <a:latin typeface="Arial" panose="020B0604020202020204" pitchFamily="34" charset="0"/>
              </a:rPr>
              <a:t> Удобный GUI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ru-RU" altLang="ru-RU" sz="22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2200" dirty="0" smtClean="0">
                <a:latin typeface="Arial" panose="020B0604020202020204" pitchFamily="34" charset="0"/>
              </a:rPr>
              <a:t> 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Расширяемость: возможность добавлять индикаторы, критерии и ограничения</a:t>
            </a:r>
            <a:endParaRPr lang="ru-RU" sz="2200" dirty="0">
              <a:solidFill>
                <a:srgbClr val="92D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Google Shape;310;p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43925" y="925879"/>
            <a:ext cx="261100" cy="26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312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4714476" y="956054"/>
            <a:ext cx="230925" cy="2309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611120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5E7167-93AC-45B8-975E-EB300E4CD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Результаты проектирования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2626DD7-7A04-46BC-87B1-4C818B43FD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4882390-5E8C-4CFA-AF90-B2445B96FD8B}" type="slidenum">
              <a:rPr lang="ru-RU" smtClean="0"/>
              <a:pPr/>
              <a:t>11</a:t>
            </a:fld>
            <a:endParaRPr lang="ru-RU" dirty="0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1FC2D17C-2CCF-47AF-9964-17E9EB25CDC8}"/>
              </a:ext>
            </a:extLst>
          </p:cNvPr>
          <p:cNvSpPr txBox="1">
            <a:spLocks/>
          </p:cNvSpPr>
          <p:nvPr/>
        </p:nvSpPr>
        <p:spPr>
          <a:xfrm>
            <a:off x="899407" y="1422400"/>
            <a:ext cx="7397750" cy="825500"/>
          </a:xfrm>
          <a:prstGeom prst="rect">
            <a:avLst/>
          </a:prstGeom>
        </p:spPr>
        <p:txBody>
          <a:bodyPr/>
          <a:lstStyle/>
          <a:p>
            <a:pPr lvl="0" algn="ctr" defTabSz="449263" eaLnBrk="0" fontAlgn="base" hangingPunct="0">
              <a:lnSpc>
                <a:spcPct val="97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defRPr/>
            </a:pPr>
            <a:r>
              <a:rPr lang="ru-RU" dirty="0"/>
              <a:t>Архитектура системы </a:t>
            </a:r>
            <a:r>
              <a:rPr lang="ru-RU" dirty="0" smtClean="0"/>
              <a:t>модульная</a:t>
            </a:r>
            <a:r>
              <a:rPr lang="en-US" dirty="0" smtClean="0"/>
              <a:t>. </a:t>
            </a:r>
            <a:r>
              <a:rPr lang="ru-RU" dirty="0" smtClean="0"/>
              <a:t>В результате проектирования были реализованы следующие модули</a:t>
            </a:r>
            <a:r>
              <a:rPr lang="en-US" dirty="0" smtClean="0"/>
              <a:t>: </a:t>
            </a:r>
            <a:endParaRPr kumimoji="0" lang="ru-RU" sz="24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  <a:sym typeface="Arial" pitchFamily="34" charset="0"/>
            </a:endParaRPr>
          </a:p>
          <a:p>
            <a:pPr marL="0" marR="0" lvl="0" indent="0" algn="l" defTabSz="449263" rtl="0" eaLnBrk="0" fontAlgn="base" latinLnBrk="0" hangingPunct="0">
              <a:lnSpc>
                <a:spcPct val="97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itchFamily="34" charset="0"/>
              <a:buNone/>
              <a:tabLst/>
              <a:defRPr/>
            </a:pPr>
            <a:endParaRPr kumimoji="0" lang="ru-RU" sz="24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  <a:sym typeface="Arial" pitchFamily="34" charset="0"/>
            </a:endParaRPr>
          </a:p>
          <a:p>
            <a:pPr marL="0" marR="0" lvl="0" indent="0" algn="l" defTabSz="449263" rtl="0" eaLnBrk="0" fontAlgn="base" latinLnBrk="0" hangingPunct="0">
              <a:lnSpc>
                <a:spcPct val="97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itchFamily="34" charset="0"/>
              <a:buNone/>
              <a:tabLst/>
              <a:defRPr/>
            </a:pPr>
            <a:endParaRPr kumimoji="0" lang="ru-RU" sz="24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  <a:sym typeface="Arial" pitchFamily="34" charset="0"/>
            </a:endParaRPr>
          </a:p>
        </p:txBody>
      </p:sp>
      <p:pic>
        <p:nvPicPr>
          <p:cNvPr id="6" name="Рисунок 5"/>
          <p:cNvPicPr/>
          <p:nvPr/>
        </p:nvPicPr>
        <p:blipFill>
          <a:blip r:embed="rId2"/>
          <a:stretch>
            <a:fillRect/>
          </a:stretch>
        </p:blipFill>
        <p:spPr>
          <a:xfrm>
            <a:off x="628650" y="3341076"/>
            <a:ext cx="8311660" cy="973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1959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4882390-5E8C-4CFA-AF90-B2445B96FD8B}" type="slidenum">
              <a:rPr lang="ru-RU" smtClean="0"/>
              <a:pPr/>
              <a:t>12</a:t>
            </a:fld>
            <a:endParaRPr lang="ru-RU" dirty="0"/>
          </a:p>
        </p:txBody>
      </p:sp>
      <p:sp>
        <p:nvSpPr>
          <p:cNvPr id="15" name="Google Shape;230;p24"/>
          <p:cNvSpPr txBox="1">
            <a:spLocks noGrp="1"/>
          </p:cNvSpPr>
          <p:nvPr>
            <p:ph type="title"/>
          </p:nvPr>
        </p:nvSpPr>
        <p:spPr>
          <a:xfrm>
            <a:off x="628650" y="36095"/>
            <a:ext cx="7886700" cy="6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ru-RU" dirty="0"/>
              <a:t>Выбор стека технологий для программной реализации</a:t>
            </a:r>
            <a:endParaRPr dirty="0"/>
          </a:p>
        </p:txBody>
      </p:sp>
      <p:pic>
        <p:nvPicPr>
          <p:cNvPr id="16" name="Google Shape;232;p24" title="python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1416200" y="1174033"/>
            <a:ext cx="1207150" cy="120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Рисунок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8097" y="872737"/>
            <a:ext cx="1720053" cy="1809745"/>
          </a:xfrm>
          <a:prstGeom prst="rect">
            <a:avLst/>
          </a:prstGeom>
        </p:spPr>
      </p:pic>
      <p:pic>
        <p:nvPicPr>
          <p:cNvPr id="27" name="Рисунок 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9622" y="3328871"/>
            <a:ext cx="2483390" cy="882337"/>
          </a:xfrm>
          <a:prstGeom prst="rect">
            <a:avLst/>
          </a:prstGeom>
        </p:spPr>
      </p:pic>
      <p:pic>
        <p:nvPicPr>
          <p:cNvPr id="28" name="Google Shape;234;p24" title="coding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65500" y="157414"/>
            <a:ext cx="564474" cy="556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Рисунок 2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5130" y="1035678"/>
            <a:ext cx="1482090" cy="1483859"/>
          </a:xfrm>
          <a:prstGeom prst="rect">
            <a:avLst/>
          </a:prstGeom>
        </p:spPr>
      </p:pic>
      <p:pic>
        <p:nvPicPr>
          <p:cNvPr id="30" name="Рисунок 2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59758" y="4861843"/>
            <a:ext cx="1624484" cy="1310585"/>
          </a:xfrm>
          <a:prstGeom prst="rect">
            <a:avLst/>
          </a:prstGeom>
        </p:spPr>
      </p:pic>
      <p:pic>
        <p:nvPicPr>
          <p:cNvPr id="31" name="Рисунок 3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97600" y="2902456"/>
            <a:ext cx="2440938" cy="1305410"/>
          </a:xfrm>
          <a:prstGeom prst="rect">
            <a:avLst/>
          </a:prstGeom>
        </p:spPr>
      </p:pic>
      <p:pic>
        <p:nvPicPr>
          <p:cNvPr id="32" name="Рисунок 3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23031" y="2832121"/>
            <a:ext cx="1393485" cy="1703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256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Описание графического интерфейса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4882390-5E8C-4CFA-AF90-B2445B96FD8B}" type="slidenum">
              <a:rPr lang="ru-RU" smtClean="0"/>
              <a:pPr/>
              <a:t>13</a:t>
            </a:fld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808" y="1112520"/>
            <a:ext cx="8343499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7258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2"/>
          <p:cNvSpPr txBox="1">
            <a:spLocks noGrp="1"/>
          </p:cNvSpPr>
          <p:nvPr>
            <p:ph type="title"/>
          </p:nvPr>
        </p:nvSpPr>
        <p:spPr>
          <a:xfrm>
            <a:off x="628650" y="36095"/>
            <a:ext cx="7886700" cy="6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r>
              <a:rPr lang="ru-RU"/>
              <a:t>Тестирование</a:t>
            </a:r>
            <a:endParaRPr/>
          </a:p>
        </p:txBody>
      </p:sp>
      <p:sp>
        <p:nvSpPr>
          <p:cNvPr id="301" name="Google Shape;301;p32"/>
          <p:cNvSpPr txBox="1">
            <a:spLocks noGrp="1"/>
          </p:cNvSpPr>
          <p:nvPr>
            <p:ph type="sldNum" idx="4294967295"/>
          </p:nvPr>
        </p:nvSpPr>
        <p:spPr>
          <a:xfrm>
            <a:off x="4384532" y="6591826"/>
            <a:ext cx="427500" cy="2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300" b="1">
                <a:solidFill>
                  <a:schemeClr val="accent5">
                    <a:lumMod val="75000"/>
                  </a:schemeClr>
                </a:solidFill>
              </a:rPr>
              <a:t>14</a:t>
            </a:fld>
            <a:endParaRPr sz="1300" b="1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05" name="Google Shape;305;p32"/>
          <p:cNvSpPr/>
          <p:nvPr/>
        </p:nvSpPr>
        <p:spPr>
          <a:xfrm>
            <a:off x="3583675" y="1294163"/>
            <a:ext cx="188700" cy="160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32"/>
          <p:cNvSpPr/>
          <p:nvPr/>
        </p:nvSpPr>
        <p:spPr>
          <a:xfrm>
            <a:off x="3583675" y="1597438"/>
            <a:ext cx="188700" cy="160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32"/>
          <p:cNvSpPr/>
          <p:nvPr/>
        </p:nvSpPr>
        <p:spPr>
          <a:xfrm>
            <a:off x="4048800" y="1910188"/>
            <a:ext cx="188700" cy="160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32"/>
          <p:cNvSpPr/>
          <p:nvPr/>
        </p:nvSpPr>
        <p:spPr>
          <a:xfrm>
            <a:off x="4048800" y="2175738"/>
            <a:ext cx="188700" cy="160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32"/>
          <p:cNvSpPr/>
          <p:nvPr/>
        </p:nvSpPr>
        <p:spPr>
          <a:xfrm>
            <a:off x="4048800" y="2516763"/>
            <a:ext cx="188700" cy="160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913" y="1195102"/>
            <a:ext cx="8338225" cy="4428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2960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2"/>
          <p:cNvSpPr txBox="1">
            <a:spLocks noGrp="1"/>
          </p:cNvSpPr>
          <p:nvPr>
            <p:ph type="title"/>
          </p:nvPr>
        </p:nvSpPr>
        <p:spPr>
          <a:xfrm>
            <a:off x="628650" y="36095"/>
            <a:ext cx="7886700" cy="6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r>
              <a:rPr lang="ru-RU"/>
              <a:t>Тестирование</a:t>
            </a:r>
            <a:endParaRPr/>
          </a:p>
        </p:txBody>
      </p:sp>
      <p:sp>
        <p:nvSpPr>
          <p:cNvPr id="301" name="Google Shape;301;p32"/>
          <p:cNvSpPr txBox="1">
            <a:spLocks noGrp="1"/>
          </p:cNvSpPr>
          <p:nvPr>
            <p:ph type="sldNum" idx="4294967295"/>
          </p:nvPr>
        </p:nvSpPr>
        <p:spPr>
          <a:xfrm>
            <a:off x="4384532" y="6591826"/>
            <a:ext cx="427500" cy="2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300" b="1">
                <a:solidFill>
                  <a:schemeClr val="accent5">
                    <a:lumMod val="75000"/>
                  </a:schemeClr>
                </a:solidFill>
              </a:rPr>
              <a:t>15</a:t>
            </a:fld>
            <a:endParaRPr sz="1300" b="1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05" name="Google Shape;305;p32"/>
          <p:cNvSpPr/>
          <p:nvPr/>
        </p:nvSpPr>
        <p:spPr>
          <a:xfrm>
            <a:off x="3583675" y="1294163"/>
            <a:ext cx="188700" cy="160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32"/>
          <p:cNvSpPr/>
          <p:nvPr/>
        </p:nvSpPr>
        <p:spPr>
          <a:xfrm>
            <a:off x="3583675" y="1597438"/>
            <a:ext cx="188700" cy="160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32"/>
          <p:cNvSpPr/>
          <p:nvPr/>
        </p:nvSpPr>
        <p:spPr>
          <a:xfrm>
            <a:off x="4048800" y="1910188"/>
            <a:ext cx="188700" cy="160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32"/>
          <p:cNvSpPr/>
          <p:nvPr/>
        </p:nvSpPr>
        <p:spPr>
          <a:xfrm>
            <a:off x="4048800" y="2175738"/>
            <a:ext cx="188700" cy="160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32"/>
          <p:cNvSpPr/>
          <p:nvPr/>
        </p:nvSpPr>
        <p:spPr>
          <a:xfrm>
            <a:off x="4048800" y="2516763"/>
            <a:ext cx="188700" cy="160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741" y="1054689"/>
            <a:ext cx="8597580" cy="4606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3347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D859FE-0C84-474E-96A4-72A9CAF34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Результаты реализации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37AA394-B5C2-4F01-84A1-584E5DBA3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4882390-5E8C-4CFA-AF90-B2445B96FD8B}" type="slidenum">
              <a:rPr lang="ru-RU" smtClean="0"/>
              <a:pPr/>
              <a:t>16</a:t>
            </a:fld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" y="2012439"/>
            <a:ext cx="8602158" cy="2483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0560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470E8A-0BFF-40FC-AF15-C98AA8125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234DA04-64EE-4D42-8E87-D1252CF262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600" dirty="0">
                <a:latin typeface="Calibri" panose="020F0502020204030204" pitchFamily="34" charset="0"/>
                <a:cs typeface="Calibri" panose="020F0502020204030204" pitchFamily="34" charset="0"/>
              </a:rPr>
              <a:t>Разработан и протестирован прототип программной системы </a:t>
            </a:r>
            <a:r>
              <a:rPr lang="ru-RU" sz="2600" b="1" dirty="0" err="1">
                <a:latin typeface="Calibri" panose="020F0502020204030204" pitchFamily="34" charset="0"/>
                <a:cs typeface="Calibri" panose="020F0502020204030204" pitchFamily="34" charset="0"/>
              </a:rPr>
              <a:t>ребалансировки</a:t>
            </a:r>
            <a:r>
              <a:rPr lang="ru-RU" sz="2600" b="1" dirty="0">
                <a:latin typeface="Calibri" panose="020F0502020204030204" pitchFamily="34" charset="0"/>
                <a:cs typeface="Calibri" panose="020F0502020204030204" pitchFamily="34" charset="0"/>
              </a:rPr>
              <a:t> портфеля ценных бумаг</a:t>
            </a:r>
            <a:r>
              <a:rPr lang="ru-RU" sz="2600" dirty="0">
                <a:latin typeface="Calibri" panose="020F0502020204030204" pitchFamily="34" charset="0"/>
                <a:cs typeface="Calibri" panose="020F0502020204030204" pitchFamily="34" charset="0"/>
              </a:rPr>
              <a:t> на основе технических индикаторов и </a:t>
            </a:r>
            <a:r>
              <a:rPr lang="ru-RU" sz="2600" b="1" dirty="0">
                <a:latin typeface="Calibri" panose="020F0502020204030204" pitchFamily="34" charset="0"/>
                <a:cs typeface="Calibri" panose="020F0502020204030204" pitchFamily="34" charset="0"/>
              </a:rPr>
              <a:t>многокритериальной оптимизации</a:t>
            </a:r>
            <a:r>
              <a:rPr lang="ru-RU" sz="26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ru-RU" altLang="ru-RU" sz="2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ru-RU" altLang="ru-RU" sz="2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2600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600" dirty="0">
                <a:latin typeface="Calibri" panose="020F0502020204030204" pitchFamily="34" charset="0"/>
                <a:cs typeface="Calibri" panose="020F0502020204030204" pitchFamily="34" charset="0"/>
              </a:rPr>
              <a:t>По результатам экспериментов система показала </a:t>
            </a:r>
            <a:r>
              <a:rPr lang="ru-RU" sz="2600" b="1" dirty="0">
                <a:latin typeface="Calibri" panose="020F0502020204030204" pitchFamily="34" charset="0"/>
                <a:cs typeface="Calibri" panose="020F0502020204030204" pitchFamily="34" charset="0"/>
              </a:rPr>
              <a:t>улучшение риск-профиля</a:t>
            </a:r>
            <a:r>
              <a:rPr lang="ru-RU" sz="2600" dirty="0">
                <a:latin typeface="Calibri" panose="020F0502020204030204" pitchFamily="34" charset="0"/>
                <a:cs typeface="Calibri" panose="020F0502020204030204" pitchFamily="34" charset="0"/>
              </a:rPr>
              <a:t> относительно базовой стратегии (снижение максимальной просадки и рост </a:t>
            </a:r>
            <a:r>
              <a:rPr lang="ru-RU" sz="2600" dirty="0" err="1">
                <a:latin typeface="Calibri" panose="020F0502020204030204" pitchFamily="34" charset="0"/>
                <a:cs typeface="Calibri" panose="020F0502020204030204" pitchFamily="34" charset="0"/>
              </a:rPr>
              <a:t>Sharpe</a:t>
            </a:r>
            <a:r>
              <a:rPr lang="ru-RU" sz="2600" dirty="0">
                <a:latin typeface="Calibri" panose="020F0502020204030204" pitchFamily="34" charset="0"/>
                <a:cs typeface="Calibri" panose="020F0502020204030204" pitchFamily="34" charset="0"/>
              </a:rPr>
              <a:t>), подтверждая практическую применимость подхода.</a:t>
            </a:r>
            <a:endParaRPr lang="ru-RU" altLang="ru-RU" sz="2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ru-RU" altLang="ru-RU" sz="2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2600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600" dirty="0">
                <a:latin typeface="Calibri" panose="020F0502020204030204" pitchFamily="34" charset="0"/>
                <a:cs typeface="Calibri" panose="020F0502020204030204" pitchFamily="34" charset="0"/>
              </a:rPr>
              <a:t>Перспективы развития: расширение набора индикаторов и критериев оптимизации, добавление реалистичных издержек (спред/проскальзывание), тестирование на разных рынках и периодах, ускорение расчётов и развитие интерфейса/отчётности.</a:t>
            </a:r>
            <a:endParaRPr lang="ru-RU" sz="2600" dirty="0">
              <a:solidFill>
                <a:srgbClr val="92D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CD75472-FE73-482B-BBF9-3BAD5BF453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4882390-5E8C-4CFA-AF90-B2445B96FD8B}" type="slidenum">
              <a:rPr lang="ru-RU" smtClean="0"/>
              <a:pPr/>
              <a:t>17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440499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073F24-EC6D-43D3-9B5C-77330BE47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Список литературы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ABE0A13-EBBD-48DB-AF3F-8247DFA983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dirty="0" smtClean="0"/>
              <a:t>1. </a:t>
            </a:r>
            <a:r>
              <a:rPr lang="ru-RU" dirty="0" err="1" smtClean="0"/>
              <a:t>Искрич</a:t>
            </a:r>
            <a:r>
              <a:rPr lang="ru-RU" dirty="0" smtClean="0"/>
              <a:t> </a:t>
            </a:r>
            <a:r>
              <a:rPr lang="ru-RU" dirty="0"/>
              <a:t>Д. П. Программная </a:t>
            </a:r>
            <a:r>
              <a:rPr lang="ru-RU" dirty="0" smtClean="0"/>
              <a:t>система</a:t>
            </a:r>
            <a:r>
              <a:rPr lang="en-US" dirty="0" smtClean="0"/>
              <a:t> </a:t>
            </a:r>
            <a:r>
              <a:rPr lang="ru-RU" dirty="0" smtClean="0"/>
              <a:t>прогнозирования </a:t>
            </a:r>
            <a:r>
              <a:rPr lang="ru-RU" dirty="0"/>
              <a:t>финансовых показателей на основе методов машинного обучения и эволюционных алгоритмов. — Самара, 2020. — 92 с</a:t>
            </a:r>
            <a:r>
              <a:rPr lang="ru-RU" dirty="0" smtClean="0"/>
              <a:t>.</a:t>
            </a:r>
          </a:p>
          <a:p>
            <a:pPr marL="0" lvl="0" indent="0">
              <a:buNone/>
            </a:pPr>
            <a:r>
              <a:rPr lang="ru-RU" dirty="0" smtClean="0"/>
              <a:t>2</a:t>
            </a:r>
            <a:r>
              <a:rPr lang="en-US" dirty="0" smtClean="0"/>
              <a:t>. </a:t>
            </a:r>
            <a:r>
              <a:rPr lang="ru-RU" dirty="0" smtClean="0"/>
              <a:t>Каширина </a:t>
            </a:r>
            <a:r>
              <a:rPr lang="ru-RU" dirty="0"/>
              <a:t>И. Л. Эволюционное моделирование: учебное пособие //Воронеж: ИПЦ ВГУ. – 2011. – 59 с.</a:t>
            </a:r>
          </a:p>
          <a:p>
            <a:pPr marL="0" lvl="0" indent="0">
              <a:buNone/>
            </a:pPr>
            <a:r>
              <a:rPr lang="en-US" dirty="0" smtClean="0"/>
              <a:t>3</a:t>
            </a:r>
            <a:r>
              <a:rPr lang="en-US" dirty="0" smtClean="0"/>
              <a:t>. </a:t>
            </a:r>
            <a:r>
              <a:rPr lang="ru-RU" dirty="0"/>
              <a:t>Гладков Л.А., </a:t>
            </a:r>
            <a:r>
              <a:rPr lang="ru-RU" dirty="0" err="1"/>
              <a:t>Курейчик</a:t>
            </a:r>
            <a:r>
              <a:rPr lang="ru-RU" dirty="0"/>
              <a:t> В.М., </a:t>
            </a:r>
            <a:r>
              <a:rPr lang="ru-RU" dirty="0" err="1"/>
              <a:t>Курейчик</a:t>
            </a:r>
            <a:r>
              <a:rPr lang="ru-RU" dirty="0"/>
              <a:t> В.В. Генетические алгоритмы – </a:t>
            </a:r>
            <a:r>
              <a:rPr lang="ru-RU" dirty="0" err="1"/>
              <a:t>Физматлит</a:t>
            </a:r>
            <a:r>
              <a:rPr lang="ru-RU" dirty="0"/>
              <a:t>, 2006. – 402 с.</a:t>
            </a:r>
          </a:p>
          <a:p>
            <a:pPr marL="0" lvl="0" indent="0">
              <a:buNone/>
            </a:pPr>
            <a:endParaRPr lang="ru-RU" dirty="0"/>
          </a:p>
          <a:p>
            <a:pPr lvl="0"/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986E03B-A1D1-49B5-9182-3A8C3716AA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4882390-5E8C-4CFA-AF90-B2445B96FD8B}" type="slidenum">
              <a:rPr lang="ru-RU" smtClean="0"/>
              <a:pPr/>
              <a:t>18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226647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69CC55E-4EB3-4177-9E4C-130DE6DB23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4882390-5E8C-4CFA-AF90-B2445B96FD8B}" type="slidenum">
              <a:rPr lang="ru-RU" smtClean="0"/>
              <a:pPr/>
              <a:t>19</a:t>
            </a:fld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E80691-F45F-44E0-BF8C-9C2D6234271D}"/>
              </a:ext>
            </a:extLst>
          </p:cNvPr>
          <p:cNvSpPr txBox="1"/>
          <p:nvPr/>
        </p:nvSpPr>
        <p:spPr>
          <a:xfrm>
            <a:off x="2704173" y="2739374"/>
            <a:ext cx="378821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200" dirty="0">
                <a:latin typeface="Arial Black" panose="020B0A04020102020204" pitchFamily="34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384061903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1630</TotalTime>
  <Words>683</Words>
  <Application>Microsoft Office PowerPoint</Application>
  <PresentationFormat>Экран (4:3)</PresentationFormat>
  <Paragraphs>116</Paragraphs>
  <Slides>19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4" baseType="lpstr">
      <vt:lpstr>Arial</vt:lpstr>
      <vt:lpstr>Arial Black</vt:lpstr>
      <vt:lpstr>Calibri</vt:lpstr>
      <vt:lpstr>Calibri Light</vt:lpstr>
      <vt:lpstr>Тема Office</vt:lpstr>
      <vt:lpstr>Презентация PowerPoint</vt:lpstr>
      <vt:lpstr>Реферат</vt:lpstr>
      <vt:lpstr>Актуальность работы</vt:lpstr>
      <vt:lpstr>Цели УИР</vt:lpstr>
      <vt:lpstr>Результаты анализа</vt:lpstr>
      <vt:lpstr>Результаты анализа</vt:lpstr>
      <vt:lpstr>Задачи УИР</vt:lpstr>
      <vt:lpstr>Результаты Разработки</vt:lpstr>
      <vt:lpstr>Результаты моделирования</vt:lpstr>
      <vt:lpstr>Список требований к программной системе</vt:lpstr>
      <vt:lpstr>Результаты проектирования</vt:lpstr>
      <vt:lpstr>Выбор стека технологий для программной реализации</vt:lpstr>
      <vt:lpstr>Описание графического интерфейса</vt:lpstr>
      <vt:lpstr>Тестирование</vt:lpstr>
      <vt:lpstr>Тестирование</vt:lpstr>
      <vt:lpstr>Результаты реализации</vt:lpstr>
      <vt:lpstr>Заключение</vt:lpstr>
      <vt:lpstr>Список литературы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V. R.</dc:creator>
  <cp:lastModifiedBy>Иван Ковальский</cp:lastModifiedBy>
  <cp:revision>47</cp:revision>
  <dcterms:created xsi:type="dcterms:W3CDTF">2017-09-30T21:27:42Z</dcterms:created>
  <dcterms:modified xsi:type="dcterms:W3CDTF">2026-02-06T07:29:14Z</dcterms:modified>
</cp:coreProperties>
</file>